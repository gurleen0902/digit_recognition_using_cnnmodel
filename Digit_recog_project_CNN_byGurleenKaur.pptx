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Times New Roman" charset="1" panose="02020603050405020304"/>
      <p:regular r:id="rId23"/>
    </p:embeddedFont>
    <p:embeddedFont>
      <p:font typeface="Times New Roman Bold" charset="1" panose="02020803070505020304"/>
      <p:regular r:id="rId24"/>
    </p:embeddedFont>
    <p:embeddedFont>
      <p:font typeface="Times New Roman Italics" charset="1" panose="020205030504050903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notesMasters/notesMaster1.xml" Type="http://schemas.openxmlformats.org/officeDocument/2006/relationships/notesMaster"/><Relationship Id="rId21" Target="theme/theme2.xml" Type="http://schemas.openxmlformats.org/officeDocument/2006/relationships/theme"/><Relationship Id="rId22" Target="notesSlides/notesSlide1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fonts/font32.fntdata" Type="http://schemas.openxmlformats.org/officeDocument/2006/relationships/font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37" Target="notesSlides/notesSlide13.xml" Type="http://schemas.openxmlformats.org/officeDocument/2006/relationships/notesSlide"/><Relationship Id="rId38" Target="notesSlides/notesSlide14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9D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229"/>
            <a:ext cx="18288000" cy="57150"/>
            <a:chOff x="0" y="0"/>
            <a:chExt cx="2438400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9C7A4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887317" y="3808809"/>
            <a:ext cx="4800600" cy="4800600"/>
            <a:chOff x="0" y="0"/>
            <a:chExt cx="6400800" cy="6400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00800" cy="6400800"/>
            </a:xfrm>
            <a:custGeom>
              <a:avLst/>
              <a:gdLst/>
              <a:ahLst/>
              <a:cxnLst/>
              <a:rect r="r" b="b" t="t" l="l"/>
              <a:pathLst>
                <a:path h="6400800" w="6400800">
                  <a:moveTo>
                    <a:pt x="0" y="3200400"/>
                  </a:moveTo>
                  <a:cubicBezTo>
                    <a:pt x="0" y="1432814"/>
                    <a:pt x="1432814" y="0"/>
                    <a:pt x="3200400" y="0"/>
                  </a:cubicBezTo>
                  <a:cubicBezTo>
                    <a:pt x="4967986" y="0"/>
                    <a:pt x="6400800" y="1432814"/>
                    <a:pt x="6400800" y="3200400"/>
                  </a:cubicBezTo>
                  <a:cubicBezTo>
                    <a:pt x="6400800" y="4967986"/>
                    <a:pt x="4967986" y="6400800"/>
                    <a:pt x="3200400" y="6400800"/>
                  </a:cubicBezTo>
                  <a:cubicBezTo>
                    <a:pt x="1432814" y="6400800"/>
                    <a:pt x="0" y="4967986"/>
                    <a:pt x="0" y="320040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  <a:ln w="47626" cap="sq">
              <a:solidFill>
                <a:srgbClr val="9C7B46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462983" y="1047750"/>
            <a:ext cx="6069320" cy="371475"/>
            <a:chOff x="0" y="0"/>
            <a:chExt cx="8092427" cy="495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92422" cy="495301"/>
            </a:xfrm>
            <a:custGeom>
              <a:avLst/>
              <a:gdLst/>
              <a:ahLst/>
              <a:cxnLst/>
              <a:rect r="r" b="b" t="t" l="l"/>
              <a:pathLst>
                <a:path h="495301" w="8092422">
                  <a:moveTo>
                    <a:pt x="0" y="0"/>
                  </a:moveTo>
                  <a:lnTo>
                    <a:pt x="8092422" y="0"/>
                  </a:lnTo>
                  <a:lnTo>
                    <a:pt x="8092422" y="495301"/>
                  </a:lnTo>
                  <a:lnTo>
                    <a:pt x="0" y="4953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354" r="0" b="-26835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8092427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2160" spc="432">
                  <a:solidFill>
                    <a:srgbClr val="74695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DEEP LEARNING PROJECT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62983" y="2189559"/>
            <a:ext cx="14048289" cy="1619250"/>
            <a:chOff x="0" y="0"/>
            <a:chExt cx="18731052" cy="2159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731050" cy="2159000"/>
            </a:xfrm>
            <a:custGeom>
              <a:avLst/>
              <a:gdLst/>
              <a:ahLst/>
              <a:cxnLst/>
              <a:rect r="r" b="b" t="t" l="l"/>
              <a:pathLst>
                <a:path h="2159000" w="18731050">
                  <a:moveTo>
                    <a:pt x="0" y="0"/>
                  </a:moveTo>
                  <a:lnTo>
                    <a:pt x="18731050" y="0"/>
                  </a:lnTo>
                  <a:lnTo>
                    <a:pt x="18731050" y="2159000"/>
                  </a:lnTo>
                  <a:lnTo>
                    <a:pt x="0" y="2159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048" r="0" b="-11904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8731052" cy="2206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232"/>
                </a:lnSpc>
              </a:pPr>
              <a:r>
                <a:rPr lang="en-US" sz="9360" b="true">
                  <a:solidFill>
                    <a:srgbClr val="2A242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CNN Handwritten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62983" y="3524250"/>
            <a:ext cx="13604843" cy="1619250"/>
            <a:chOff x="0" y="0"/>
            <a:chExt cx="18139791" cy="2159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139787" cy="2159000"/>
            </a:xfrm>
            <a:custGeom>
              <a:avLst/>
              <a:gdLst/>
              <a:ahLst/>
              <a:cxnLst/>
              <a:rect r="r" b="b" t="t" l="l"/>
              <a:pathLst>
                <a:path h="2159000" w="18139787">
                  <a:moveTo>
                    <a:pt x="0" y="0"/>
                  </a:moveTo>
                  <a:lnTo>
                    <a:pt x="18139787" y="0"/>
                  </a:lnTo>
                  <a:lnTo>
                    <a:pt x="18139787" y="2159000"/>
                  </a:lnTo>
                  <a:lnTo>
                    <a:pt x="0" y="2159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712" r="0" b="-11371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8139791" cy="2206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232"/>
                </a:lnSpc>
              </a:pPr>
              <a:r>
                <a:rPr lang="en-US" sz="9360" b="true">
                  <a:solidFill>
                    <a:srgbClr val="2A242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Digit Recognition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2983" y="8859419"/>
            <a:ext cx="16083277" cy="874173"/>
            <a:chOff x="0" y="0"/>
            <a:chExt cx="21444369" cy="11655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444367" cy="1165564"/>
            </a:xfrm>
            <a:custGeom>
              <a:avLst/>
              <a:gdLst/>
              <a:ahLst/>
              <a:cxnLst/>
              <a:rect r="r" b="b" t="t" l="l"/>
              <a:pathLst>
                <a:path h="1165564" w="21444367">
                  <a:moveTo>
                    <a:pt x="0" y="0"/>
                  </a:moveTo>
                  <a:lnTo>
                    <a:pt x="21444367" y="0"/>
                  </a:lnTo>
                  <a:lnTo>
                    <a:pt x="21444367" y="1165564"/>
                  </a:lnTo>
                  <a:lnTo>
                    <a:pt x="0" y="11655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088" r="44776" b="-12085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21444369" cy="11846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74695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MNIST Dataset · TensorFlow / Keras · Streamlit                                                                 </a:t>
              </a:r>
            </a:p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74695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                                                                                                                                                    by - Gurleen Kaur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462983" y="6274146"/>
            <a:ext cx="16083277" cy="1382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3460">
                <a:solidFill>
                  <a:srgbClr val="4A413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Classifying handwritten digits with a Convolutional Neural</a:t>
            </a:r>
          </a:p>
          <a:p>
            <a:pPr algn="l">
              <a:lnSpc>
                <a:spcPts val="5184"/>
              </a:lnSpc>
            </a:pPr>
            <a:r>
              <a:rPr lang="en-US" sz="3460">
                <a:solidFill>
                  <a:srgbClr val="4A413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Network, from the MNIST dataset to a live drawing app.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9D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2983" y="1282008"/>
            <a:ext cx="13643924" cy="1047750"/>
            <a:chOff x="0" y="0"/>
            <a:chExt cx="18191899" cy="139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191896" cy="1397000"/>
            </a:xfrm>
            <a:custGeom>
              <a:avLst/>
              <a:gdLst/>
              <a:ahLst/>
              <a:cxnLst/>
              <a:rect r="r" b="b" t="t" l="l"/>
              <a:pathLst>
                <a:path h="1397000" w="18191896">
                  <a:moveTo>
                    <a:pt x="0" y="0"/>
                  </a:moveTo>
                  <a:lnTo>
                    <a:pt x="18191896" y="0"/>
                  </a:lnTo>
                  <a:lnTo>
                    <a:pt x="18191896" y="1397000"/>
                  </a:lnTo>
                  <a:lnTo>
                    <a:pt x="0" y="139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736" r="0" b="-20373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8191899" cy="1425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47"/>
                </a:lnSpc>
              </a:pPr>
              <a:r>
                <a:rPr lang="en-US" sz="6040" b="true">
                  <a:solidFill>
                    <a:srgbClr val="2A242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Introduction to the Project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62983" y="3215583"/>
            <a:ext cx="637461" cy="542925"/>
            <a:chOff x="0" y="0"/>
            <a:chExt cx="849948" cy="7239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49947" cy="723901"/>
            </a:xfrm>
            <a:custGeom>
              <a:avLst/>
              <a:gdLst/>
              <a:ahLst/>
              <a:cxnLst/>
              <a:rect r="r" b="b" t="t" l="l"/>
              <a:pathLst>
                <a:path h="723901" w="849947">
                  <a:moveTo>
                    <a:pt x="0" y="0"/>
                  </a:moveTo>
                  <a:lnTo>
                    <a:pt x="849947" y="0"/>
                  </a:lnTo>
                  <a:lnTo>
                    <a:pt x="849947" y="723901"/>
                  </a:lnTo>
                  <a:lnTo>
                    <a:pt x="0" y="7239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276" t="0" r="-59276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849948" cy="742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92"/>
                </a:lnSpc>
              </a:pPr>
              <a:r>
                <a:rPr lang="en-US" sz="3160">
                  <a:solidFill>
                    <a:srgbClr val="9C7A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—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158013" y="3206058"/>
            <a:ext cx="15905474" cy="1260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316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Handwriting varies widely from person to person, making digit</a:t>
            </a:r>
          </a:p>
          <a:p>
            <a:pPr algn="l">
              <a:lnSpc>
                <a:spcPts val="4750"/>
              </a:lnSpc>
            </a:pPr>
            <a:r>
              <a:rPr lang="en-US" sz="316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recognition a classic pattern-recognition problem.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62983" y="4751337"/>
            <a:ext cx="637461" cy="542925"/>
            <a:chOff x="0" y="0"/>
            <a:chExt cx="849948" cy="7239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49947" cy="723901"/>
            </a:xfrm>
            <a:custGeom>
              <a:avLst/>
              <a:gdLst/>
              <a:ahLst/>
              <a:cxnLst/>
              <a:rect r="r" b="b" t="t" l="l"/>
              <a:pathLst>
                <a:path h="723901" w="849947">
                  <a:moveTo>
                    <a:pt x="0" y="0"/>
                  </a:moveTo>
                  <a:lnTo>
                    <a:pt x="849947" y="0"/>
                  </a:lnTo>
                  <a:lnTo>
                    <a:pt x="849947" y="723901"/>
                  </a:lnTo>
                  <a:lnTo>
                    <a:pt x="0" y="7239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276" t="0" r="-59276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849948" cy="742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92"/>
                </a:lnSpc>
              </a:pPr>
              <a:r>
                <a:rPr lang="en-US" sz="3160">
                  <a:solidFill>
                    <a:srgbClr val="9C7A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—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158013" y="4741812"/>
            <a:ext cx="17292314" cy="1260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316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builds a Convolutional Neural Network (CNN) trained on</a:t>
            </a:r>
          </a:p>
          <a:p>
            <a:pPr algn="l">
              <a:lnSpc>
                <a:spcPts val="4750"/>
              </a:lnSpc>
            </a:pPr>
            <a:r>
              <a:rPr lang="en-US" sz="316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MNIST dataset to classify digits from 0 to 9.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62983" y="6287100"/>
            <a:ext cx="637461" cy="542925"/>
            <a:chOff x="0" y="0"/>
            <a:chExt cx="849948" cy="7239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49947" cy="723901"/>
            </a:xfrm>
            <a:custGeom>
              <a:avLst/>
              <a:gdLst/>
              <a:ahLst/>
              <a:cxnLst/>
              <a:rect r="r" b="b" t="t" l="l"/>
              <a:pathLst>
                <a:path h="723901" w="849947">
                  <a:moveTo>
                    <a:pt x="0" y="0"/>
                  </a:moveTo>
                  <a:lnTo>
                    <a:pt x="849947" y="0"/>
                  </a:lnTo>
                  <a:lnTo>
                    <a:pt x="849947" y="723901"/>
                  </a:lnTo>
                  <a:lnTo>
                    <a:pt x="0" y="7239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276" t="0" r="-59276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849948" cy="742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92"/>
                </a:lnSpc>
              </a:pPr>
              <a:r>
                <a:rPr lang="en-US" sz="3160">
                  <a:solidFill>
                    <a:srgbClr val="9C7A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—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158013" y="6277566"/>
            <a:ext cx="17153782" cy="1260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316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trained model powers an interactive Streamlit app where a user</a:t>
            </a:r>
          </a:p>
          <a:p>
            <a:pPr algn="l">
              <a:lnSpc>
                <a:spcPts val="4750"/>
              </a:lnSpc>
            </a:pPr>
            <a:r>
              <a:rPr lang="en-US" sz="316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draws a digit by hand and receives a live prediction.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6497900" y="9249966"/>
            <a:ext cx="539563" cy="400050"/>
            <a:chOff x="0" y="0"/>
            <a:chExt cx="719417" cy="533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19416" cy="533400"/>
            </a:xfrm>
            <a:custGeom>
              <a:avLst/>
              <a:gdLst/>
              <a:ahLst/>
              <a:cxnLst/>
              <a:rect r="r" b="b" t="t" l="l"/>
              <a:pathLst>
                <a:path h="533400" w="719416">
                  <a:moveTo>
                    <a:pt x="0" y="0"/>
                  </a:moveTo>
                  <a:lnTo>
                    <a:pt x="719416" y="0"/>
                  </a:lnTo>
                  <a:lnTo>
                    <a:pt x="719416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128" t="0" r="-45128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719417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74695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9D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2983" y="1282008"/>
            <a:ext cx="4919482" cy="1047750"/>
            <a:chOff x="0" y="0"/>
            <a:chExt cx="6559309" cy="139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59312" cy="1397000"/>
            </a:xfrm>
            <a:custGeom>
              <a:avLst/>
              <a:gdLst/>
              <a:ahLst/>
              <a:cxnLst/>
              <a:rect r="r" b="b" t="t" l="l"/>
              <a:pathLst>
                <a:path h="1397000" w="6559312">
                  <a:moveTo>
                    <a:pt x="0" y="0"/>
                  </a:moveTo>
                  <a:lnTo>
                    <a:pt x="6559312" y="0"/>
                  </a:lnTo>
                  <a:lnTo>
                    <a:pt x="6559312" y="1397000"/>
                  </a:lnTo>
                  <a:lnTo>
                    <a:pt x="0" y="139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487" r="0" b="-4148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6559309" cy="1425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47"/>
                </a:lnSpc>
              </a:pPr>
              <a:r>
                <a:rPr lang="en-US" sz="6040" b="true">
                  <a:solidFill>
                    <a:srgbClr val="2A242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Objective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462983" y="3411741"/>
            <a:ext cx="10300649" cy="131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8"/>
              </a:lnSpc>
            </a:pPr>
            <a:r>
              <a:rPr lang="en-US" sz="332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 recognize a handwritten</a:t>
            </a:r>
          </a:p>
          <a:p>
            <a:pPr algn="l">
              <a:lnSpc>
                <a:spcPts val="4968"/>
              </a:lnSpc>
            </a:pPr>
            <a:r>
              <a:rPr lang="en-US" sz="332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 (0–9) from an image.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2983" y="5002559"/>
            <a:ext cx="11044180" cy="131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8"/>
              </a:lnSpc>
            </a:pPr>
            <a:r>
              <a:rPr lang="en-US" sz="332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 high classification accuracy using</a:t>
            </a:r>
          </a:p>
          <a:p>
            <a:pPr algn="l">
              <a:lnSpc>
                <a:spcPts val="4968"/>
              </a:lnSpc>
            </a:pPr>
            <a:r>
              <a:rPr lang="en-US" sz="332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deep learning model.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2983" y="6593386"/>
            <a:ext cx="10008108" cy="131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8"/>
              </a:lnSpc>
            </a:pPr>
            <a:r>
              <a:rPr lang="en-US" sz="332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Wrap the trained model in a simple,</a:t>
            </a:r>
          </a:p>
          <a:p>
            <a:pPr algn="l">
              <a:lnSpc>
                <a:spcPts val="4968"/>
              </a:lnSpc>
            </a:pPr>
            <a:r>
              <a:rPr lang="en-US" sz="332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 interface for real-time use.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333855" y="3079404"/>
            <a:ext cx="5495925" cy="4333875"/>
            <a:chOff x="0" y="0"/>
            <a:chExt cx="7327900" cy="5778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27900" cy="5778500"/>
            </a:xfrm>
            <a:custGeom>
              <a:avLst/>
              <a:gdLst/>
              <a:ahLst/>
              <a:cxnLst/>
              <a:rect r="r" b="b" t="t" l="l"/>
              <a:pathLst>
                <a:path h="5778500" w="7327900">
                  <a:moveTo>
                    <a:pt x="0" y="97790"/>
                  </a:moveTo>
                  <a:cubicBezTo>
                    <a:pt x="0" y="43815"/>
                    <a:pt x="43815" y="0"/>
                    <a:pt x="97790" y="0"/>
                  </a:cubicBezTo>
                  <a:lnTo>
                    <a:pt x="7230110" y="0"/>
                  </a:lnTo>
                  <a:cubicBezTo>
                    <a:pt x="7284085" y="0"/>
                    <a:pt x="7327900" y="43815"/>
                    <a:pt x="7327900" y="97790"/>
                  </a:cubicBezTo>
                  <a:lnTo>
                    <a:pt x="7327900" y="5680710"/>
                  </a:lnTo>
                  <a:cubicBezTo>
                    <a:pt x="7327900" y="5734685"/>
                    <a:pt x="7284085" y="5778500"/>
                    <a:pt x="7230110" y="5778500"/>
                  </a:cubicBezTo>
                  <a:lnTo>
                    <a:pt x="97790" y="5778500"/>
                  </a:lnTo>
                  <a:cubicBezTo>
                    <a:pt x="43815" y="5778500"/>
                    <a:pt x="0" y="5734685"/>
                    <a:pt x="0" y="5680710"/>
                  </a:cubicBezTo>
                  <a:close/>
                </a:path>
              </a:pathLst>
            </a:custGeom>
            <a:solidFill>
              <a:srgbClr val="FBF7EF"/>
            </a:solidFill>
            <a:ln w="9526" cap="sq">
              <a:solidFill>
                <a:srgbClr val="9C7B46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046278" y="3802704"/>
            <a:ext cx="2806522" cy="1743075"/>
            <a:chOff x="0" y="0"/>
            <a:chExt cx="3742030" cy="2324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42035" cy="2324101"/>
            </a:xfrm>
            <a:custGeom>
              <a:avLst/>
              <a:gdLst/>
              <a:ahLst/>
              <a:cxnLst/>
              <a:rect r="r" b="b" t="t" l="l"/>
              <a:pathLst>
                <a:path h="2324101" w="3742035">
                  <a:moveTo>
                    <a:pt x="0" y="0"/>
                  </a:moveTo>
                  <a:lnTo>
                    <a:pt x="3742035" y="0"/>
                  </a:lnTo>
                  <a:lnTo>
                    <a:pt x="3742035" y="2324101"/>
                  </a:lnTo>
                  <a:lnTo>
                    <a:pt x="0" y="23241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686" t="0" r="-29686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742030" cy="2371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095"/>
                </a:lnSpc>
              </a:pPr>
              <a:r>
                <a:rPr lang="en-US" sz="10079" b="true">
                  <a:solidFill>
                    <a:srgbClr val="9C7A4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0–9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1184817" y="5766797"/>
            <a:ext cx="5794000" cy="980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2"/>
              </a:lnSpc>
            </a:pPr>
            <a:r>
              <a:rPr lang="en-US" sz="2440">
                <a:solidFill>
                  <a:srgbClr val="7469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Ten possible digit classes, one</a:t>
            </a:r>
          </a:p>
          <a:p>
            <a:pPr algn="ctr">
              <a:lnSpc>
                <a:spcPts val="3672"/>
              </a:lnSpc>
            </a:pPr>
            <a:r>
              <a:rPr lang="en-US" sz="2440">
                <a:solidFill>
                  <a:srgbClr val="7469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per drawing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6497900" y="9249966"/>
            <a:ext cx="539563" cy="400050"/>
            <a:chOff x="0" y="0"/>
            <a:chExt cx="719417" cy="533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9416" cy="533400"/>
            </a:xfrm>
            <a:custGeom>
              <a:avLst/>
              <a:gdLst/>
              <a:ahLst/>
              <a:cxnLst/>
              <a:rect r="r" b="b" t="t" l="l"/>
              <a:pathLst>
                <a:path h="533400" w="719416">
                  <a:moveTo>
                    <a:pt x="0" y="0"/>
                  </a:moveTo>
                  <a:lnTo>
                    <a:pt x="719416" y="0"/>
                  </a:lnTo>
                  <a:lnTo>
                    <a:pt x="719416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128" t="0" r="-45128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719417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74695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9D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2983" y="1282008"/>
            <a:ext cx="10621813" cy="1047750"/>
            <a:chOff x="0" y="0"/>
            <a:chExt cx="14162418" cy="139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162424" cy="1397000"/>
            </a:xfrm>
            <a:custGeom>
              <a:avLst/>
              <a:gdLst/>
              <a:ahLst/>
              <a:cxnLst/>
              <a:rect r="r" b="b" t="t" l="l"/>
              <a:pathLst>
                <a:path h="1397000" w="14162424">
                  <a:moveTo>
                    <a:pt x="0" y="0"/>
                  </a:moveTo>
                  <a:lnTo>
                    <a:pt x="14162424" y="0"/>
                  </a:lnTo>
                  <a:lnTo>
                    <a:pt x="14162424" y="1397000"/>
                  </a:lnTo>
                  <a:lnTo>
                    <a:pt x="0" y="139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534" r="0" b="-14753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4162418" cy="1425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47"/>
                </a:lnSpc>
              </a:pPr>
              <a:r>
                <a:rPr lang="en-US" sz="6040" b="true">
                  <a:solidFill>
                    <a:srgbClr val="2A242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Tools and Tech Stack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62983" y="3320358"/>
            <a:ext cx="5368738" cy="571500"/>
            <a:chOff x="0" y="0"/>
            <a:chExt cx="7158317" cy="762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58315" cy="762000"/>
            </a:xfrm>
            <a:custGeom>
              <a:avLst/>
              <a:gdLst/>
              <a:ahLst/>
              <a:cxnLst/>
              <a:rect r="r" b="b" t="t" l="l"/>
              <a:pathLst>
                <a:path h="762000" w="7158315">
                  <a:moveTo>
                    <a:pt x="0" y="0"/>
                  </a:moveTo>
                  <a:lnTo>
                    <a:pt x="7158315" y="0"/>
                  </a:lnTo>
                  <a:lnTo>
                    <a:pt x="7158315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044" r="0" b="-13304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7158317" cy="781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84"/>
                </a:lnSpc>
              </a:pPr>
              <a:r>
                <a:rPr lang="en-US" sz="3320" b="true">
                  <a:solidFill>
                    <a:srgbClr val="2A242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TensorFlow / Keras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2983" y="4003329"/>
            <a:ext cx="8024593" cy="476250"/>
            <a:chOff x="0" y="0"/>
            <a:chExt cx="10699458" cy="635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99453" cy="635000"/>
            </a:xfrm>
            <a:custGeom>
              <a:avLst/>
              <a:gdLst/>
              <a:ahLst/>
              <a:cxnLst/>
              <a:rect r="r" b="b" t="t" l="l"/>
              <a:pathLst>
                <a:path h="635000" w="10699453">
                  <a:moveTo>
                    <a:pt x="0" y="0"/>
                  </a:moveTo>
                  <a:lnTo>
                    <a:pt x="10699453" y="0"/>
                  </a:lnTo>
                  <a:lnTo>
                    <a:pt x="10699453" y="635000"/>
                  </a:lnTo>
                  <a:lnTo>
                    <a:pt x="0" y="63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313" r="0" b="-27831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0699458" cy="654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87"/>
                </a:lnSpc>
              </a:pPr>
              <a:r>
                <a:rPr lang="en-US" sz="2740">
                  <a:solidFill>
                    <a:srgbClr val="74695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Build, train, and save the CNN model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418139" y="3320358"/>
            <a:ext cx="2114464" cy="571500"/>
            <a:chOff x="0" y="0"/>
            <a:chExt cx="2819286" cy="762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9280" cy="762000"/>
            </a:xfrm>
            <a:custGeom>
              <a:avLst/>
              <a:gdLst/>
              <a:ahLst/>
              <a:cxnLst/>
              <a:rect r="r" b="b" t="t" l="l"/>
              <a:pathLst>
                <a:path h="762000" w="2819280">
                  <a:moveTo>
                    <a:pt x="0" y="0"/>
                  </a:moveTo>
                  <a:lnTo>
                    <a:pt x="2819280" y="0"/>
                  </a:lnTo>
                  <a:lnTo>
                    <a:pt x="281928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91" r="0" b="-2209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819286" cy="781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84"/>
                </a:lnSpc>
              </a:pPr>
              <a:r>
                <a:rPr lang="en-US" sz="3320" b="true">
                  <a:solidFill>
                    <a:srgbClr val="2A242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NumPy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418139" y="3898554"/>
            <a:ext cx="9137275" cy="1102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4"/>
              </a:lnSpc>
            </a:pPr>
            <a:r>
              <a:rPr lang="en-US" sz="2740">
                <a:solidFill>
                  <a:srgbClr val="7469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 and numerical operations on image</a:t>
            </a:r>
          </a:p>
          <a:p>
            <a:pPr algn="l">
              <a:lnSpc>
                <a:spcPts val="4104"/>
              </a:lnSpc>
            </a:pPr>
            <a:r>
              <a:rPr lang="en-US" sz="2740">
                <a:solidFill>
                  <a:srgbClr val="7469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462983" y="5363766"/>
            <a:ext cx="3025350" cy="571500"/>
            <a:chOff x="0" y="0"/>
            <a:chExt cx="4033799" cy="762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33797" cy="762000"/>
            </a:xfrm>
            <a:custGeom>
              <a:avLst/>
              <a:gdLst/>
              <a:ahLst/>
              <a:cxnLst/>
              <a:rect r="r" b="b" t="t" l="l"/>
              <a:pathLst>
                <a:path h="762000" w="4033797">
                  <a:moveTo>
                    <a:pt x="0" y="0"/>
                  </a:moveTo>
                  <a:lnTo>
                    <a:pt x="4033797" y="0"/>
                  </a:lnTo>
                  <a:lnTo>
                    <a:pt x="4033797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147" r="0" b="-5314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4033799" cy="781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84"/>
                </a:lnSpc>
              </a:pPr>
              <a:r>
                <a:rPr lang="en-US" sz="3320" b="true">
                  <a:solidFill>
                    <a:srgbClr val="2A242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Matplotlib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62983" y="6046737"/>
            <a:ext cx="9250651" cy="476250"/>
            <a:chOff x="0" y="0"/>
            <a:chExt cx="12334202" cy="635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334200" cy="635000"/>
            </a:xfrm>
            <a:custGeom>
              <a:avLst/>
              <a:gdLst/>
              <a:ahLst/>
              <a:cxnLst/>
              <a:rect r="r" b="b" t="t" l="l"/>
              <a:pathLst>
                <a:path h="635000" w="12334200">
                  <a:moveTo>
                    <a:pt x="0" y="0"/>
                  </a:moveTo>
                  <a:lnTo>
                    <a:pt x="12334200" y="0"/>
                  </a:lnTo>
                  <a:lnTo>
                    <a:pt x="12334200" y="635000"/>
                  </a:lnTo>
                  <a:lnTo>
                    <a:pt x="0" y="63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476" r="0" b="-32847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2334202" cy="654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87"/>
                </a:lnSpc>
              </a:pPr>
              <a:r>
                <a:rPr lang="en-US" sz="2740">
                  <a:solidFill>
                    <a:srgbClr val="74695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Plot training and validation accuracy / loss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418139" y="5363766"/>
            <a:ext cx="2727398" cy="571500"/>
            <a:chOff x="0" y="0"/>
            <a:chExt cx="3636531" cy="762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36525" cy="762000"/>
            </a:xfrm>
            <a:custGeom>
              <a:avLst/>
              <a:gdLst/>
              <a:ahLst/>
              <a:cxnLst/>
              <a:rect r="r" b="b" t="t" l="l"/>
              <a:pathLst>
                <a:path h="762000" w="3636525">
                  <a:moveTo>
                    <a:pt x="0" y="0"/>
                  </a:moveTo>
                  <a:lnTo>
                    <a:pt x="3636525" y="0"/>
                  </a:lnTo>
                  <a:lnTo>
                    <a:pt x="3636525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989" r="0" b="-4298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3636531" cy="781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84"/>
                </a:lnSpc>
              </a:pPr>
              <a:r>
                <a:rPr lang="en-US" sz="3320" b="true">
                  <a:solidFill>
                    <a:srgbClr val="2A242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Streamlit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418139" y="6046737"/>
            <a:ext cx="6947116" cy="476250"/>
            <a:chOff x="0" y="0"/>
            <a:chExt cx="9262821" cy="635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62824" cy="635000"/>
            </a:xfrm>
            <a:custGeom>
              <a:avLst/>
              <a:gdLst/>
              <a:ahLst/>
              <a:cxnLst/>
              <a:rect r="r" b="b" t="t" l="l"/>
              <a:pathLst>
                <a:path h="635000" w="9262824">
                  <a:moveTo>
                    <a:pt x="0" y="0"/>
                  </a:moveTo>
                  <a:lnTo>
                    <a:pt x="9262824" y="0"/>
                  </a:lnTo>
                  <a:lnTo>
                    <a:pt x="9262824" y="635000"/>
                  </a:lnTo>
                  <a:lnTo>
                    <a:pt x="0" y="63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230" r="0" b="-23423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9262821" cy="654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87"/>
                </a:lnSpc>
              </a:pPr>
              <a:r>
                <a:rPr lang="en-US" sz="2740">
                  <a:solidFill>
                    <a:srgbClr val="74695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Interactive web app framework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62983" y="6885984"/>
            <a:ext cx="7531227" cy="571500"/>
            <a:chOff x="0" y="0"/>
            <a:chExt cx="10041636" cy="762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41632" cy="762000"/>
            </a:xfrm>
            <a:custGeom>
              <a:avLst/>
              <a:gdLst/>
              <a:ahLst/>
              <a:cxnLst/>
              <a:rect r="r" b="b" t="t" l="l"/>
              <a:pathLst>
                <a:path h="762000" w="10041632">
                  <a:moveTo>
                    <a:pt x="0" y="0"/>
                  </a:moveTo>
                  <a:lnTo>
                    <a:pt x="10041632" y="0"/>
                  </a:lnTo>
                  <a:lnTo>
                    <a:pt x="10041632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773" r="0" b="-20677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10041636" cy="781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84"/>
                </a:lnSpc>
              </a:pPr>
              <a:r>
                <a:rPr lang="en-US" sz="3320" b="true">
                  <a:solidFill>
                    <a:srgbClr val="2A242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streamlit-drawable-canvas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62983" y="7568956"/>
            <a:ext cx="7975835" cy="476250"/>
            <a:chOff x="0" y="0"/>
            <a:chExt cx="10634447" cy="635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634445" cy="635000"/>
            </a:xfrm>
            <a:custGeom>
              <a:avLst/>
              <a:gdLst/>
              <a:ahLst/>
              <a:cxnLst/>
              <a:rect r="r" b="b" t="t" l="l"/>
              <a:pathLst>
                <a:path h="635000" w="10634445">
                  <a:moveTo>
                    <a:pt x="0" y="0"/>
                  </a:moveTo>
                  <a:lnTo>
                    <a:pt x="10634445" y="0"/>
                  </a:lnTo>
                  <a:lnTo>
                    <a:pt x="10634445" y="635000"/>
                  </a:lnTo>
                  <a:lnTo>
                    <a:pt x="0" y="63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6319" r="0" b="-27631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10634447" cy="654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87"/>
                </a:lnSpc>
              </a:pPr>
              <a:r>
                <a:rPr lang="en-US" sz="2740">
                  <a:solidFill>
                    <a:srgbClr val="74695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Captures the hand-drawn digit input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6497900" y="9249966"/>
            <a:ext cx="539563" cy="400050"/>
            <a:chOff x="0" y="0"/>
            <a:chExt cx="719417" cy="533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19416" cy="533400"/>
            </a:xfrm>
            <a:custGeom>
              <a:avLst/>
              <a:gdLst/>
              <a:ahLst/>
              <a:cxnLst/>
              <a:rect r="r" b="b" t="t" l="l"/>
              <a:pathLst>
                <a:path h="533400" w="719416">
                  <a:moveTo>
                    <a:pt x="0" y="0"/>
                  </a:moveTo>
                  <a:lnTo>
                    <a:pt x="719416" y="0"/>
                  </a:lnTo>
                  <a:lnTo>
                    <a:pt x="719416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128" t="0" r="-45128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719417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74695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9D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2983" y="1282008"/>
            <a:ext cx="7859554" cy="1047750"/>
            <a:chOff x="0" y="0"/>
            <a:chExt cx="10479405" cy="139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79405" cy="1397000"/>
            </a:xfrm>
            <a:custGeom>
              <a:avLst/>
              <a:gdLst/>
              <a:ahLst/>
              <a:cxnLst/>
              <a:rect r="r" b="b" t="t" l="l"/>
              <a:pathLst>
                <a:path h="1397000" w="10479405">
                  <a:moveTo>
                    <a:pt x="0" y="0"/>
                  </a:moveTo>
                  <a:lnTo>
                    <a:pt x="10479405" y="0"/>
                  </a:lnTo>
                  <a:lnTo>
                    <a:pt x="10479405" y="1397000"/>
                  </a:lnTo>
                  <a:lnTo>
                    <a:pt x="0" y="139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64" r="0" b="-9616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0479405" cy="1425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47"/>
                </a:lnSpc>
              </a:pPr>
              <a:r>
                <a:rPr lang="en-US" sz="6040" b="true">
                  <a:solidFill>
                    <a:srgbClr val="2A242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Dataset: MNIST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62983" y="3215583"/>
            <a:ext cx="637461" cy="542925"/>
            <a:chOff x="0" y="0"/>
            <a:chExt cx="849948" cy="7239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49947" cy="723901"/>
            </a:xfrm>
            <a:custGeom>
              <a:avLst/>
              <a:gdLst/>
              <a:ahLst/>
              <a:cxnLst/>
              <a:rect r="r" b="b" t="t" l="l"/>
              <a:pathLst>
                <a:path h="723901" w="849947">
                  <a:moveTo>
                    <a:pt x="0" y="0"/>
                  </a:moveTo>
                  <a:lnTo>
                    <a:pt x="849947" y="0"/>
                  </a:lnTo>
                  <a:lnTo>
                    <a:pt x="849947" y="723901"/>
                  </a:lnTo>
                  <a:lnTo>
                    <a:pt x="0" y="7239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276" t="0" r="-59276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849948" cy="742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92"/>
                </a:lnSpc>
              </a:pPr>
              <a:r>
                <a:rPr lang="en-US" sz="3160">
                  <a:solidFill>
                    <a:srgbClr val="9C7A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—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158013" y="3206058"/>
            <a:ext cx="9959350" cy="1260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316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70,000 grayscale images of handwritten</a:t>
            </a:r>
          </a:p>
          <a:p>
            <a:pPr algn="l">
              <a:lnSpc>
                <a:spcPts val="4750"/>
              </a:lnSpc>
            </a:pPr>
            <a:r>
              <a:rPr lang="en-US" sz="316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digits, each 28×28 pixels.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62983" y="4730801"/>
            <a:ext cx="637461" cy="542925"/>
            <a:chOff x="0" y="0"/>
            <a:chExt cx="849948" cy="7239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49947" cy="723901"/>
            </a:xfrm>
            <a:custGeom>
              <a:avLst/>
              <a:gdLst/>
              <a:ahLst/>
              <a:cxnLst/>
              <a:rect r="r" b="b" t="t" l="l"/>
              <a:pathLst>
                <a:path h="723901" w="849947">
                  <a:moveTo>
                    <a:pt x="0" y="0"/>
                  </a:moveTo>
                  <a:lnTo>
                    <a:pt x="849947" y="0"/>
                  </a:lnTo>
                  <a:lnTo>
                    <a:pt x="849947" y="723901"/>
                  </a:lnTo>
                  <a:lnTo>
                    <a:pt x="0" y="7239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276" t="0" r="-59276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849948" cy="742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92"/>
                </a:lnSpc>
              </a:pPr>
              <a:r>
                <a:rPr lang="en-US" sz="3160">
                  <a:solidFill>
                    <a:srgbClr val="9C7A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—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158013" y="4721276"/>
            <a:ext cx="8554136" cy="1260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316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60,000 training images and 10,000</a:t>
            </a:r>
          </a:p>
          <a:p>
            <a:pPr algn="l">
              <a:lnSpc>
                <a:spcPts val="4750"/>
              </a:lnSpc>
            </a:pPr>
            <a:r>
              <a:rPr lang="en-US" sz="316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images.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62983" y="6246019"/>
            <a:ext cx="637461" cy="542925"/>
            <a:chOff x="0" y="0"/>
            <a:chExt cx="849948" cy="7239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49947" cy="723901"/>
            </a:xfrm>
            <a:custGeom>
              <a:avLst/>
              <a:gdLst/>
              <a:ahLst/>
              <a:cxnLst/>
              <a:rect r="r" b="b" t="t" l="l"/>
              <a:pathLst>
                <a:path h="723901" w="849947">
                  <a:moveTo>
                    <a:pt x="0" y="0"/>
                  </a:moveTo>
                  <a:lnTo>
                    <a:pt x="849947" y="0"/>
                  </a:lnTo>
                  <a:lnTo>
                    <a:pt x="849947" y="723901"/>
                  </a:lnTo>
                  <a:lnTo>
                    <a:pt x="0" y="7239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276" t="0" r="-59276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849948" cy="742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92"/>
                </a:lnSpc>
              </a:pPr>
              <a:r>
                <a:rPr lang="en-US" sz="3160">
                  <a:solidFill>
                    <a:srgbClr val="9C7A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—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158013" y="6236494"/>
            <a:ext cx="8501320" cy="1260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316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Bundled directly with Keras — no</a:t>
            </a:r>
          </a:p>
          <a:p>
            <a:pPr algn="l">
              <a:lnSpc>
                <a:spcPts val="4750"/>
              </a:lnSpc>
            </a:pPr>
            <a:r>
              <a:rPr lang="en-US" sz="316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download required.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462983" y="7761237"/>
            <a:ext cx="637461" cy="542925"/>
            <a:chOff x="0" y="0"/>
            <a:chExt cx="849948" cy="7239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49947" cy="723901"/>
            </a:xfrm>
            <a:custGeom>
              <a:avLst/>
              <a:gdLst/>
              <a:ahLst/>
              <a:cxnLst/>
              <a:rect r="r" b="b" t="t" l="l"/>
              <a:pathLst>
                <a:path h="723901" w="849947">
                  <a:moveTo>
                    <a:pt x="0" y="0"/>
                  </a:moveTo>
                  <a:lnTo>
                    <a:pt x="849947" y="0"/>
                  </a:lnTo>
                  <a:lnTo>
                    <a:pt x="849947" y="723901"/>
                  </a:lnTo>
                  <a:lnTo>
                    <a:pt x="0" y="7239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276" t="0" r="-59276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849948" cy="742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92"/>
                </a:lnSpc>
              </a:pPr>
              <a:r>
                <a:rPr lang="en-US" sz="3160">
                  <a:solidFill>
                    <a:srgbClr val="9C7A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—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158013" y="7751712"/>
            <a:ext cx="9724473" cy="1260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316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Pixels normalized to 0–1 and reshaped</a:t>
            </a:r>
          </a:p>
          <a:p>
            <a:pPr algn="l">
              <a:lnSpc>
                <a:spcPts val="4750"/>
              </a:lnSpc>
            </a:pPr>
            <a:r>
              <a:rPr lang="en-US" sz="316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(28, 28, 1).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333855" y="3079404"/>
            <a:ext cx="5495925" cy="4333875"/>
            <a:chOff x="0" y="0"/>
            <a:chExt cx="7327900" cy="5778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27900" cy="5778500"/>
            </a:xfrm>
            <a:custGeom>
              <a:avLst/>
              <a:gdLst/>
              <a:ahLst/>
              <a:cxnLst/>
              <a:rect r="r" b="b" t="t" l="l"/>
              <a:pathLst>
                <a:path h="5778500" w="7327900">
                  <a:moveTo>
                    <a:pt x="0" y="97790"/>
                  </a:moveTo>
                  <a:cubicBezTo>
                    <a:pt x="0" y="43815"/>
                    <a:pt x="43815" y="0"/>
                    <a:pt x="97790" y="0"/>
                  </a:cubicBezTo>
                  <a:lnTo>
                    <a:pt x="7230110" y="0"/>
                  </a:lnTo>
                  <a:cubicBezTo>
                    <a:pt x="7284085" y="0"/>
                    <a:pt x="7327900" y="43815"/>
                    <a:pt x="7327900" y="97790"/>
                  </a:cubicBezTo>
                  <a:lnTo>
                    <a:pt x="7327900" y="5680710"/>
                  </a:lnTo>
                  <a:cubicBezTo>
                    <a:pt x="7327900" y="5734685"/>
                    <a:pt x="7284085" y="5778500"/>
                    <a:pt x="7230110" y="5778500"/>
                  </a:cubicBezTo>
                  <a:lnTo>
                    <a:pt x="97790" y="5778500"/>
                  </a:lnTo>
                  <a:cubicBezTo>
                    <a:pt x="43815" y="5778500"/>
                    <a:pt x="0" y="5734685"/>
                    <a:pt x="0" y="5680710"/>
                  </a:cubicBezTo>
                  <a:close/>
                </a:path>
              </a:pathLst>
            </a:custGeom>
            <a:solidFill>
              <a:srgbClr val="FBF7EF"/>
            </a:solidFill>
            <a:ln w="9526" cap="sq">
              <a:solidFill>
                <a:srgbClr val="9C7B46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263285" y="3553416"/>
            <a:ext cx="579415" cy="876300"/>
            <a:chOff x="0" y="0"/>
            <a:chExt cx="772554" cy="1168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72557" cy="1168400"/>
            </a:xfrm>
            <a:custGeom>
              <a:avLst/>
              <a:gdLst/>
              <a:ahLst/>
              <a:cxnLst/>
              <a:rect r="r" b="b" t="t" l="l"/>
              <a:pathLst>
                <a:path h="1168400" w="772557">
                  <a:moveTo>
                    <a:pt x="0" y="0"/>
                  </a:moveTo>
                  <a:lnTo>
                    <a:pt x="772557" y="0"/>
                  </a:lnTo>
                  <a:lnTo>
                    <a:pt x="772557" y="1168400"/>
                  </a:lnTo>
                  <a:lnTo>
                    <a:pt x="0" y="116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4043" t="0" r="-14404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772554" cy="120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47"/>
                </a:lnSpc>
              </a:pPr>
              <a:r>
                <a:rPr lang="en-US" sz="5039" b="true">
                  <a:solidFill>
                    <a:srgbClr val="2A242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902776" y="3553416"/>
            <a:ext cx="579415" cy="876300"/>
            <a:chOff x="0" y="0"/>
            <a:chExt cx="772554" cy="1168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72557" cy="1168400"/>
            </a:xfrm>
            <a:custGeom>
              <a:avLst/>
              <a:gdLst/>
              <a:ahLst/>
              <a:cxnLst/>
              <a:rect r="r" b="b" t="t" l="l"/>
              <a:pathLst>
                <a:path h="1168400" w="772557">
                  <a:moveTo>
                    <a:pt x="0" y="0"/>
                  </a:moveTo>
                  <a:lnTo>
                    <a:pt x="772557" y="0"/>
                  </a:lnTo>
                  <a:lnTo>
                    <a:pt x="772557" y="1168400"/>
                  </a:lnTo>
                  <a:lnTo>
                    <a:pt x="0" y="116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4043" t="0" r="-14404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772554" cy="120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47"/>
                </a:lnSpc>
              </a:pPr>
              <a:r>
                <a:rPr lang="en-US" sz="5039" b="true">
                  <a:solidFill>
                    <a:srgbClr val="2A242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5542419" y="3553416"/>
            <a:ext cx="579415" cy="876300"/>
            <a:chOff x="0" y="0"/>
            <a:chExt cx="772554" cy="1168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72557" cy="1168400"/>
            </a:xfrm>
            <a:custGeom>
              <a:avLst/>
              <a:gdLst/>
              <a:ahLst/>
              <a:cxnLst/>
              <a:rect r="r" b="b" t="t" l="l"/>
              <a:pathLst>
                <a:path h="1168400" w="772557">
                  <a:moveTo>
                    <a:pt x="0" y="0"/>
                  </a:moveTo>
                  <a:lnTo>
                    <a:pt x="772557" y="0"/>
                  </a:lnTo>
                  <a:lnTo>
                    <a:pt x="772557" y="1168400"/>
                  </a:lnTo>
                  <a:lnTo>
                    <a:pt x="0" y="116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4043" t="0" r="-14404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772554" cy="120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47"/>
                </a:lnSpc>
              </a:pPr>
              <a:r>
                <a:rPr lang="en-US" sz="5039" b="true">
                  <a:solidFill>
                    <a:srgbClr val="2A242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263285" y="4804324"/>
            <a:ext cx="579415" cy="876300"/>
            <a:chOff x="0" y="0"/>
            <a:chExt cx="772554" cy="1168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72557" cy="1168400"/>
            </a:xfrm>
            <a:custGeom>
              <a:avLst/>
              <a:gdLst/>
              <a:ahLst/>
              <a:cxnLst/>
              <a:rect r="r" b="b" t="t" l="l"/>
              <a:pathLst>
                <a:path h="1168400" w="772557">
                  <a:moveTo>
                    <a:pt x="0" y="0"/>
                  </a:moveTo>
                  <a:lnTo>
                    <a:pt x="772557" y="0"/>
                  </a:lnTo>
                  <a:lnTo>
                    <a:pt x="772557" y="1168400"/>
                  </a:lnTo>
                  <a:lnTo>
                    <a:pt x="0" y="116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4043" t="0" r="-14404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772554" cy="120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47"/>
                </a:lnSpc>
              </a:pPr>
              <a:r>
                <a:rPr lang="en-US" sz="5039" b="true">
                  <a:solidFill>
                    <a:srgbClr val="2A242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902776" y="4804324"/>
            <a:ext cx="579415" cy="876300"/>
            <a:chOff x="0" y="0"/>
            <a:chExt cx="772554" cy="1168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72557" cy="1168400"/>
            </a:xfrm>
            <a:custGeom>
              <a:avLst/>
              <a:gdLst/>
              <a:ahLst/>
              <a:cxnLst/>
              <a:rect r="r" b="b" t="t" l="l"/>
              <a:pathLst>
                <a:path h="1168400" w="772557">
                  <a:moveTo>
                    <a:pt x="0" y="0"/>
                  </a:moveTo>
                  <a:lnTo>
                    <a:pt x="772557" y="0"/>
                  </a:lnTo>
                  <a:lnTo>
                    <a:pt x="772557" y="1168400"/>
                  </a:lnTo>
                  <a:lnTo>
                    <a:pt x="0" y="116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4043" t="0" r="-14404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772554" cy="120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47"/>
                </a:lnSpc>
              </a:pPr>
              <a:r>
                <a:rPr lang="en-US" sz="5039" b="true">
                  <a:solidFill>
                    <a:srgbClr val="2A242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5542419" y="4804324"/>
            <a:ext cx="579415" cy="876300"/>
            <a:chOff x="0" y="0"/>
            <a:chExt cx="772554" cy="1168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72557" cy="1168400"/>
            </a:xfrm>
            <a:custGeom>
              <a:avLst/>
              <a:gdLst/>
              <a:ahLst/>
              <a:cxnLst/>
              <a:rect r="r" b="b" t="t" l="l"/>
              <a:pathLst>
                <a:path h="1168400" w="772557">
                  <a:moveTo>
                    <a:pt x="0" y="0"/>
                  </a:moveTo>
                  <a:lnTo>
                    <a:pt x="772557" y="0"/>
                  </a:lnTo>
                  <a:lnTo>
                    <a:pt x="772557" y="1168400"/>
                  </a:lnTo>
                  <a:lnTo>
                    <a:pt x="0" y="116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4043" t="0" r="-14404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772554" cy="120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47"/>
                </a:lnSpc>
              </a:pPr>
              <a:r>
                <a:rPr lang="en-US" sz="5039" b="true">
                  <a:solidFill>
                    <a:srgbClr val="2A242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5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263285" y="6055223"/>
            <a:ext cx="579415" cy="876300"/>
            <a:chOff x="0" y="0"/>
            <a:chExt cx="772554" cy="1168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72557" cy="1168400"/>
            </a:xfrm>
            <a:custGeom>
              <a:avLst/>
              <a:gdLst/>
              <a:ahLst/>
              <a:cxnLst/>
              <a:rect r="r" b="b" t="t" l="l"/>
              <a:pathLst>
                <a:path h="1168400" w="772557">
                  <a:moveTo>
                    <a:pt x="0" y="0"/>
                  </a:moveTo>
                  <a:lnTo>
                    <a:pt x="772557" y="0"/>
                  </a:lnTo>
                  <a:lnTo>
                    <a:pt x="772557" y="1168400"/>
                  </a:lnTo>
                  <a:lnTo>
                    <a:pt x="0" y="116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4043" t="0" r="-14404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772554" cy="120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47"/>
                </a:lnSpc>
              </a:pPr>
              <a:r>
                <a:rPr lang="en-US" sz="5039" b="true">
                  <a:solidFill>
                    <a:srgbClr val="2A242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6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902776" y="6055223"/>
            <a:ext cx="579415" cy="876300"/>
            <a:chOff x="0" y="0"/>
            <a:chExt cx="772554" cy="1168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72557" cy="1168400"/>
            </a:xfrm>
            <a:custGeom>
              <a:avLst/>
              <a:gdLst/>
              <a:ahLst/>
              <a:cxnLst/>
              <a:rect r="r" b="b" t="t" l="l"/>
              <a:pathLst>
                <a:path h="1168400" w="772557">
                  <a:moveTo>
                    <a:pt x="0" y="0"/>
                  </a:moveTo>
                  <a:lnTo>
                    <a:pt x="772557" y="0"/>
                  </a:lnTo>
                  <a:lnTo>
                    <a:pt x="772557" y="1168400"/>
                  </a:lnTo>
                  <a:lnTo>
                    <a:pt x="0" y="116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4043" t="0" r="-14404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772554" cy="120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47"/>
                </a:lnSpc>
              </a:pPr>
              <a:r>
                <a:rPr lang="en-US" sz="5039" b="true">
                  <a:solidFill>
                    <a:srgbClr val="2A242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7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5542419" y="6055223"/>
            <a:ext cx="579415" cy="876300"/>
            <a:chOff x="0" y="0"/>
            <a:chExt cx="772554" cy="1168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72557" cy="1168400"/>
            </a:xfrm>
            <a:custGeom>
              <a:avLst/>
              <a:gdLst/>
              <a:ahLst/>
              <a:cxnLst/>
              <a:rect r="r" b="b" t="t" l="l"/>
              <a:pathLst>
                <a:path h="1168400" w="772557">
                  <a:moveTo>
                    <a:pt x="0" y="0"/>
                  </a:moveTo>
                  <a:lnTo>
                    <a:pt x="772557" y="0"/>
                  </a:lnTo>
                  <a:lnTo>
                    <a:pt x="772557" y="1168400"/>
                  </a:lnTo>
                  <a:lnTo>
                    <a:pt x="0" y="116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4043" t="0" r="-14404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772554" cy="120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47"/>
                </a:lnSpc>
              </a:pPr>
              <a:r>
                <a:rPr lang="en-US" sz="5039" b="true">
                  <a:solidFill>
                    <a:srgbClr val="2A242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8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6497900" y="9249966"/>
            <a:ext cx="539563" cy="400050"/>
            <a:chOff x="0" y="0"/>
            <a:chExt cx="719417" cy="533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19416" cy="533400"/>
            </a:xfrm>
            <a:custGeom>
              <a:avLst/>
              <a:gdLst/>
              <a:ahLst/>
              <a:cxnLst/>
              <a:rect r="r" b="b" t="t" l="l"/>
              <a:pathLst>
                <a:path h="533400" w="719416">
                  <a:moveTo>
                    <a:pt x="0" y="0"/>
                  </a:moveTo>
                  <a:lnTo>
                    <a:pt x="719416" y="0"/>
                  </a:lnTo>
                  <a:lnTo>
                    <a:pt x="719416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128" t="0" r="-45128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719417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74695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9379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9D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2983" y="1282008"/>
            <a:ext cx="9094518" cy="1047750"/>
            <a:chOff x="0" y="0"/>
            <a:chExt cx="12126024" cy="139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26019" cy="1397000"/>
            </a:xfrm>
            <a:custGeom>
              <a:avLst/>
              <a:gdLst/>
              <a:ahLst/>
              <a:cxnLst/>
              <a:rect r="r" b="b" t="t" l="l"/>
              <a:pathLst>
                <a:path h="1397000" w="12126019">
                  <a:moveTo>
                    <a:pt x="0" y="0"/>
                  </a:moveTo>
                  <a:lnTo>
                    <a:pt x="12126019" y="0"/>
                  </a:lnTo>
                  <a:lnTo>
                    <a:pt x="12126019" y="1397000"/>
                  </a:lnTo>
                  <a:lnTo>
                    <a:pt x="0" y="139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131" r="0" b="-11913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2126024" cy="1425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47"/>
                </a:lnSpc>
              </a:pPr>
              <a:r>
                <a:rPr lang="en-US" sz="6040" b="true">
                  <a:solidFill>
                    <a:srgbClr val="2A242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CNN Architecture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57249" y="3113997"/>
            <a:ext cx="15580214" cy="5224159"/>
            <a:chOff x="0" y="0"/>
            <a:chExt cx="20497800" cy="68730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497800" cy="6873062"/>
            </a:xfrm>
            <a:custGeom>
              <a:avLst/>
              <a:gdLst/>
              <a:ahLst/>
              <a:cxnLst/>
              <a:rect r="r" b="b" t="t" l="l"/>
              <a:pathLst>
                <a:path h="6873062" w="20497800">
                  <a:moveTo>
                    <a:pt x="0" y="439574"/>
                  </a:moveTo>
                  <a:cubicBezTo>
                    <a:pt x="0" y="197128"/>
                    <a:pt x="33147" y="0"/>
                    <a:pt x="73914" y="0"/>
                  </a:cubicBezTo>
                  <a:lnTo>
                    <a:pt x="20423887" y="0"/>
                  </a:lnTo>
                  <a:cubicBezTo>
                    <a:pt x="20464780" y="0"/>
                    <a:pt x="20497800" y="197128"/>
                    <a:pt x="20497800" y="439574"/>
                  </a:cubicBezTo>
                  <a:lnTo>
                    <a:pt x="20497800" y="6433488"/>
                  </a:lnTo>
                  <a:cubicBezTo>
                    <a:pt x="20497800" y="6676689"/>
                    <a:pt x="20464653" y="6873062"/>
                    <a:pt x="20423887" y="6873062"/>
                  </a:cubicBezTo>
                  <a:lnTo>
                    <a:pt x="73914" y="6873062"/>
                  </a:lnTo>
                  <a:cubicBezTo>
                    <a:pt x="33147" y="6873062"/>
                    <a:pt x="0" y="6675934"/>
                    <a:pt x="0" y="6433488"/>
                  </a:cubicBezTo>
                  <a:close/>
                </a:path>
              </a:pathLst>
            </a:custGeom>
            <a:blipFill>
              <a:blip r:embed="rId4"/>
              <a:stretch>
                <a:fillRect l="0" t="-411" r="0" b="-411"/>
              </a:stretch>
            </a:blipFill>
            <a:ln w="9526" cap="sq">
              <a:solidFill>
                <a:srgbClr val="9B7C44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462983" y="8771532"/>
            <a:ext cx="14824129" cy="678458"/>
            <a:chOff x="0" y="0"/>
            <a:chExt cx="19765505" cy="9046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765507" cy="904612"/>
            </a:xfrm>
            <a:custGeom>
              <a:avLst/>
              <a:gdLst/>
              <a:ahLst/>
              <a:cxnLst/>
              <a:rect r="r" b="b" t="t" l="l"/>
              <a:pathLst>
                <a:path h="904612" w="19765507">
                  <a:moveTo>
                    <a:pt x="0" y="0"/>
                  </a:moveTo>
                  <a:lnTo>
                    <a:pt x="19765507" y="0"/>
                  </a:lnTo>
                  <a:lnTo>
                    <a:pt x="19765507" y="904612"/>
                  </a:lnTo>
                  <a:lnTo>
                    <a:pt x="0" y="9046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4154" r="0" b="-35733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9765505" cy="9236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7"/>
                </a:lnSpc>
              </a:pPr>
              <a:r>
                <a:rPr lang="en-US" sz="2440">
                  <a:solidFill>
                    <a:srgbClr val="74695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Compiled with the Adam optimizer and sparse categorical cross-entropy loss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497900" y="9249966"/>
            <a:ext cx="539563" cy="400050"/>
            <a:chOff x="0" y="0"/>
            <a:chExt cx="719417" cy="533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9416" cy="533400"/>
            </a:xfrm>
            <a:custGeom>
              <a:avLst/>
              <a:gdLst/>
              <a:ahLst/>
              <a:cxnLst/>
              <a:rect r="r" b="b" t="t" l="l"/>
              <a:pathLst>
                <a:path h="533400" w="719416">
                  <a:moveTo>
                    <a:pt x="0" y="0"/>
                  </a:moveTo>
                  <a:lnTo>
                    <a:pt x="719416" y="0"/>
                  </a:lnTo>
                  <a:lnTo>
                    <a:pt x="719416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128" t="0" r="-45128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719417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74695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9D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2983" y="729558"/>
            <a:ext cx="5333914" cy="352425"/>
            <a:chOff x="0" y="0"/>
            <a:chExt cx="7111886" cy="469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111880" cy="469899"/>
            </a:xfrm>
            <a:custGeom>
              <a:avLst/>
              <a:gdLst/>
              <a:ahLst/>
              <a:cxnLst/>
              <a:rect r="r" b="b" t="t" l="l"/>
              <a:pathLst>
                <a:path h="469899" w="7111880">
                  <a:moveTo>
                    <a:pt x="0" y="0"/>
                  </a:moveTo>
                  <a:lnTo>
                    <a:pt x="7111880" y="0"/>
                  </a:lnTo>
                  <a:lnTo>
                    <a:pt x="7111880" y="469899"/>
                  </a:lnTo>
                  <a:lnTo>
                    <a:pt x="0" y="469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904" r="0" b="-24490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7111886" cy="488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3"/>
                </a:lnSpc>
              </a:pPr>
              <a:r>
                <a:rPr lang="en-US" sz="2019" spc="431">
                  <a:solidFill>
                    <a:srgbClr val="9C7A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WORKING — OVERVIEW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62983" y="1282008"/>
            <a:ext cx="10443239" cy="1047750"/>
            <a:chOff x="0" y="0"/>
            <a:chExt cx="13924318" cy="1397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924321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924321">
                  <a:moveTo>
                    <a:pt x="0" y="0"/>
                  </a:moveTo>
                  <a:lnTo>
                    <a:pt x="13924321" y="0"/>
                  </a:lnTo>
                  <a:lnTo>
                    <a:pt x="13924321" y="1397000"/>
                  </a:lnTo>
                  <a:lnTo>
                    <a:pt x="0" y="139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213" r="0" b="-1442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3924318" cy="1425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47"/>
                </a:lnSpc>
              </a:pPr>
              <a:r>
                <a:rPr lang="en-US" sz="6040" b="true">
                  <a:solidFill>
                    <a:srgbClr val="2A242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System Architecture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2983" y="3310833"/>
            <a:ext cx="4643590" cy="400050"/>
            <a:chOff x="0" y="0"/>
            <a:chExt cx="6191453" cy="533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91448" cy="533400"/>
            </a:xfrm>
            <a:custGeom>
              <a:avLst/>
              <a:gdLst/>
              <a:ahLst/>
              <a:cxnLst/>
              <a:rect r="r" b="b" t="t" l="l"/>
              <a:pathLst>
                <a:path h="533400" w="6191448">
                  <a:moveTo>
                    <a:pt x="0" y="0"/>
                  </a:moveTo>
                  <a:lnTo>
                    <a:pt x="6191448" y="0"/>
                  </a:lnTo>
                  <a:lnTo>
                    <a:pt x="6191448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173" r="0" b="-17617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191453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spc="288">
                  <a:solidFill>
                    <a:srgbClr val="74695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TRAINING PIPELINE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58963" y="3829641"/>
            <a:ext cx="4591050" cy="933450"/>
            <a:chOff x="0" y="0"/>
            <a:chExt cx="6121400" cy="1244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121400" cy="1244600"/>
            </a:xfrm>
            <a:custGeom>
              <a:avLst/>
              <a:gdLst/>
              <a:ahLst/>
              <a:cxnLst/>
              <a:rect r="r" b="b" t="t" l="l"/>
              <a:pathLst>
                <a:path h="1244600" w="6121400">
                  <a:moveTo>
                    <a:pt x="0" y="98552"/>
                  </a:moveTo>
                  <a:cubicBezTo>
                    <a:pt x="0" y="44069"/>
                    <a:pt x="44069" y="0"/>
                    <a:pt x="98552" y="0"/>
                  </a:cubicBezTo>
                  <a:lnTo>
                    <a:pt x="6022848" y="0"/>
                  </a:lnTo>
                  <a:cubicBezTo>
                    <a:pt x="6077331" y="0"/>
                    <a:pt x="6121400" y="44069"/>
                    <a:pt x="6121400" y="98552"/>
                  </a:cubicBezTo>
                  <a:lnTo>
                    <a:pt x="6121400" y="1146048"/>
                  </a:lnTo>
                  <a:cubicBezTo>
                    <a:pt x="6121400" y="1200531"/>
                    <a:pt x="6077331" y="1244600"/>
                    <a:pt x="6022848" y="1244600"/>
                  </a:cubicBezTo>
                  <a:lnTo>
                    <a:pt x="98552" y="1244600"/>
                  </a:lnTo>
                  <a:cubicBezTo>
                    <a:pt x="44069" y="1244600"/>
                    <a:pt x="0" y="1200531"/>
                    <a:pt x="0" y="1146048"/>
                  </a:cubicBezTo>
                  <a:close/>
                </a:path>
              </a:pathLst>
            </a:custGeom>
            <a:solidFill>
              <a:srgbClr val="FBF7EF"/>
            </a:solidFill>
            <a:ln w="9526" cap="sq">
              <a:solidFill>
                <a:srgbClr val="9C7B46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2198303" y="4068518"/>
            <a:ext cx="3112218" cy="447675"/>
            <a:chOff x="0" y="0"/>
            <a:chExt cx="4149623" cy="5969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49627" cy="596901"/>
            </a:xfrm>
            <a:custGeom>
              <a:avLst/>
              <a:gdLst/>
              <a:ahLst/>
              <a:cxnLst/>
              <a:rect r="r" b="b" t="t" l="l"/>
              <a:pathLst>
                <a:path h="596901" w="4149627">
                  <a:moveTo>
                    <a:pt x="0" y="0"/>
                  </a:moveTo>
                  <a:lnTo>
                    <a:pt x="4149627" y="0"/>
                  </a:lnTo>
                  <a:lnTo>
                    <a:pt x="4149627" y="596901"/>
                  </a:lnTo>
                  <a:lnTo>
                    <a:pt x="0" y="5969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458" r="0" b="-8545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4149623" cy="61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2A242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MNIST Dataset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265364" y="3995738"/>
            <a:ext cx="592379" cy="600075"/>
            <a:chOff x="0" y="0"/>
            <a:chExt cx="789838" cy="800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89840" cy="800101"/>
            </a:xfrm>
            <a:custGeom>
              <a:avLst/>
              <a:gdLst/>
              <a:ahLst/>
              <a:cxnLst/>
              <a:rect r="r" b="b" t="t" l="l"/>
              <a:pathLst>
                <a:path h="800101" w="789840">
                  <a:moveTo>
                    <a:pt x="0" y="0"/>
                  </a:moveTo>
                  <a:lnTo>
                    <a:pt x="789840" y="0"/>
                  </a:lnTo>
                  <a:lnTo>
                    <a:pt x="789840" y="800101"/>
                  </a:lnTo>
                  <a:lnTo>
                    <a:pt x="0" y="8001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9970" t="0" r="-7997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789838" cy="82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52"/>
                </a:lnSpc>
              </a:pPr>
              <a:r>
                <a:rPr lang="en-US" sz="3460">
                  <a:solidFill>
                    <a:srgbClr val="9C7A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→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848475" y="3829641"/>
            <a:ext cx="4591050" cy="933450"/>
            <a:chOff x="0" y="0"/>
            <a:chExt cx="6121400" cy="1244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121400" cy="1244600"/>
            </a:xfrm>
            <a:custGeom>
              <a:avLst/>
              <a:gdLst/>
              <a:ahLst/>
              <a:cxnLst/>
              <a:rect r="r" b="b" t="t" l="l"/>
              <a:pathLst>
                <a:path h="1244600" w="6121400">
                  <a:moveTo>
                    <a:pt x="0" y="98552"/>
                  </a:moveTo>
                  <a:cubicBezTo>
                    <a:pt x="0" y="44069"/>
                    <a:pt x="44069" y="0"/>
                    <a:pt x="98552" y="0"/>
                  </a:cubicBezTo>
                  <a:lnTo>
                    <a:pt x="6022848" y="0"/>
                  </a:lnTo>
                  <a:cubicBezTo>
                    <a:pt x="6077331" y="0"/>
                    <a:pt x="6121400" y="44069"/>
                    <a:pt x="6121400" y="98552"/>
                  </a:cubicBezTo>
                  <a:lnTo>
                    <a:pt x="6121400" y="1146048"/>
                  </a:lnTo>
                  <a:cubicBezTo>
                    <a:pt x="6121400" y="1200531"/>
                    <a:pt x="6077331" y="1244600"/>
                    <a:pt x="6022848" y="1244600"/>
                  </a:cubicBezTo>
                  <a:lnTo>
                    <a:pt x="98552" y="1244600"/>
                  </a:lnTo>
                  <a:cubicBezTo>
                    <a:pt x="44069" y="1244600"/>
                    <a:pt x="0" y="1200531"/>
                    <a:pt x="0" y="1146048"/>
                  </a:cubicBezTo>
                  <a:close/>
                </a:path>
              </a:pathLst>
            </a:custGeom>
            <a:solidFill>
              <a:srgbClr val="FBF7EF"/>
            </a:solidFill>
            <a:ln w="9526" cap="sq">
              <a:solidFill>
                <a:srgbClr val="9C7B46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7005838" y="4068518"/>
            <a:ext cx="4276173" cy="447675"/>
            <a:chOff x="0" y="0"/>
            <a:chExt cx="5701563" cy="5969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701565" cy="596901"/>
            </a:xfrm>
            <a:custGeom>
              <a:avLst/>
              <a:gdLst/>
              <a:ahLst/>
              <a:cxnLst/>
              <a:rect r="r" b="b" t="t" l="l"/>
              <a:pathLst>
                <a:path h="596901" w="5701565">
                  <a:moveTo>
                    <a:pt x="0" y="0"/>
                  </a:moveTo>
                  <a:lnTo>
                    <a:pt x="5701565" y="0"/>
                  </a:lnTo>
                  <a:lnTo>
                    <a:pt x="5701565" y="596901"/>
                  </a:lnTo>
                  <a:lnTo>
                    <a:pt x="0" y="5969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119" r="0" b="-13611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5701563" cy="61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2A242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CNN Model Training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654876" y="3995738"/>
            <a:ext cx="592379" cy="600075"/>
            <a:chOff x="0" y="0"/>
            <a:chExt cx="789838" cy="800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89840" cy="800101"/>
            </a:xfrm>
            <a:custGeom>
              <a:avLst/>
              <a:gdLst/>
              <a:ahLst/>
              <a:cxnLst/>
              <a:rect r="r" b="b" t="t" l="l"/>
              <a:pathLst>
                <a:path h="800101" w="789840">
                  <a:moveTo>
                    <a:pt x="0" y="0"/>
                  </a:moveTo>
                  <a:lnTo>
                    <a:pt x="789840" y="0"/>
                  </a:lnTo>
                  <a:lnTo>
                    <a:pt x="789840" y="800101"/>
                  </a:lnTo>
                  <a:lnTo>
                    <a:pt x="0" y="8001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9970" t="0" r="-7997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789838" cy="82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52"/>
                </a:lnSpc>
              </a:pPr>
              <a:r>
                <a:rPr lang="en-US" sz="3460">
                  <a:solidFill>
                    <a:srgbClr val="9C7A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→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237987" y="3829641"/>
            <a:ext cx="4591050" cy="933450"/>
            <a:chOff x="0" y="0"/>
            <a:chExt cx="6121400" cy="1244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121400" cy="1244600"/>
            </a:xfrm>
            <a:custGeom>
              <a:avLst/>
              <a:gdLst/>
              <a:ahLst/>
              <a:cxnLst/>
              <a:rect r="r" b="b" t="t" l="l"/>
              <a:pathLst>
                <a:path h="1244600" w="6121400">
                  <a:moveTo>
                    <a:pt x="0" y="98552"/>
                  </a:moveTo>
                  <a:cubicBezTo>
                    <a:pt x="0" y="44069"/>
                    <a:pt x="44069" y="0"/>
                    <a:pt x="98552" y="0"/>
                  </a:cubicBezTo>
                  <a:lnTo>
                    <a:pt x="6022848" y="0"/>
                  </a:lnTo>
                  <a:cubicBezTo>
                    <a:pt x="6077331" y="0"/>
                    <a:pt x="6121400" y="44069"/>
                    <a:pt x="6121400" y="98552"/>
                  </a:cubicBezTo>
                  <a:lnTo>
                    <a:pt x="6121400" y="1146048"/>
                  </a:lnTo>
                  <a:cubicBezTo>
                    <a:pt x="6121400" y="1200531"/>
                    <a:pt x="6077331" y="1244600"/>
                    <a:pt x="6022848" y="1244600"/>
                  </a:cubicBezTo>
                  <a:lnTo>
                    <a:pt x="98552" y="1244600"/>
                  </a:lnTo>
                  <a:cubicBezTo>
                    <a:pt x="44069" y="1244600"/>
                    <a:pt x="0" y="1200531"/>
                    <a:pt x="0" y="1146048"/>
                  </a:cubicBezTo>
                  <a:close/>
                </a:path>
              </a:pathLst>
            </a:custGeom>
            <a:solidFill>
              <a:srgbClr val="FBF7EF"/>
            </a:solidFill>
            <a:ln w="9526" cap="sq">
              <a:solidFill>
                <a:srgbClr val="9C7B46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2372499" y="4068518"/>
            <a:ext cx="4322026" cy="447675"/>
            <a:chOff x="0" y="0"/>
            <a:chExt cx="5762701" cy="5969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762704" cy="596901"/>
            </a:xfrm>
            <a:custGeom>
              <a:avLst/>
              <a:gdLst/>
              <a:ahLst/>
              <a:cxnLst/>
              <a:rect r="r" b="b" t="t" l="l"/>
              <a:pathLst>
                <a:path h="596901" w="5762704">
                  <a:moveTo>
                    <a:pt x="0" y="0"/>
                  </a:moveTo>
                  <a:lnTo>
                    <a:pt x="5762704" y="0"/>
                  </a:lnTo>
                  <a:lnTo>
                    <a:pt x="5762704" y="596901"/>
                  </a:lnTo>
                  <a:lnTo>
                    <a:pt x="0" y="5969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115" r="0" b="-13811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5762701" cy="61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2A242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Saved Model (.keras)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62983" y="5189639"/>
            <a:ext cx="4947542" cy="400050"/>
            <a:chOff x="0" y="0"/>
            <a:chExt cx="6596723" cy="533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596717" cy="533400"/>
            </a:xfrm>
            <a:custGeom>
              <a:avLst/>
              <a:gdLst/>
              <a:ahLst/>
              <a:cxnLst/>
              <a:rect r="r" b="b" t="t" l="l"/>
              <a:pathLst>
                <a:path h="533400" w="6596717">
                  <a:moveTo>
                    <a:pt x="0" y="0"/>
                  </a:moveTo>
                  <a:lnTo>
                    <a:pt x="6596717" y="0"/>
                  </a:lnTo>
                  <a:lnTo>
                    <a:pt x="6596717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977" r="0" b="-19097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6596723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spc="288">
                  <a:solidFill>
                    <a:srgbClr val="74695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INFERENCE PIPELINE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456801" y="5706589"/>
            <a:ext cx="3248025" cy="1143000"/>
            <a:chOff x="0" y="0"/>
            <a:chExt cx="4330700" cy="1524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3307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330700">
                  <a:moveTo>
                    <a:pt x="0" y="98298"/>
                  </a:moveTo>
                  <a:cubicBezTo>
                    <a:pt x="0" y="44069"/>
                    <a:pt x="44069" y="0"/>
                    <a:pt x="98298" y="0"/>
                  </a:cubicBezTo>
                  <a:lnTo>
                    <a:pt x="4232402" y="0"/>
                  </a:lnTo>
                  <a:cubicBezTo>
                    <a:pt x="4286631" y="0"/>
                    <a:pt x="4330700" y="44069"/>
                    <a:pt x="4330700" y="98298"/>
                  </a:cubicBezTo>
                  <a:lnTo>
                    <a:pt x="4330700" y="1425702"/>
                  </a:lnTo>
                  <a:cubicBezTo>
                    <a:pt x="4330700" y="1480058"/>
                    <a:pt x="4286631" y="1524000"/>
                    <a:pt x="4232402" y="1524000"/>
                  </a:cubicBezTo>
                  <a:lnTo>
                    <a:pt x="98298" y="1524000"/>
                  </a:lnTo>
                  <a:cubicBezTo>
                    <a:pt x="44069" y="1524000"/>
                    <a:pt x="0" y="1479931"/>
                    <a:pt x="0" y="1425702"/>
                  </a:cubicBezTo>
                  <a:close/>
                </a:path>
              </a:pathLst>
            </a:custGeom>
            <a:solidFill>
              <a:srgbClr val="FBF7EF"/>
            </a:solidFill>
            <a:ln w="9526" cap="sq">
              <a:solidFill>
                <a:srgbClr val="9C7B46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543688" y="6076207"/>
            <a:ext cx="3074108" cy="400050"/>
            <a:chOff x="0" y="0"/>
            <a:chExt cx="4098811" cy="533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098805" cy="533400"/>
            </a:xfrm>
            <a:custGeom>
              <a:avLst/>
              <a:gdLst/>
              <a:ahLst/>
              <a:cxnLst/>
              <a:rect r="r" b="b" t="t" l="l"/>
              <a:pathLst>
                <a:path h="533400" w="4098805">
                  <a:moveTo>
                    <a:pt x="0" y="0"/>
                  </a:moveTo>
                  <a:lnTo>
                    <a:pt x="4098805" y="0"/>
                  </a:lnTo>
                  <a:lnTo>
                    <a:pt x="4098805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729" r="0" b="-9972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4098811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>
                  <a:solidFill>
                    <a:srgbClr val="2A242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Canvas Drawing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4918024" y="5977528"/>
            <a:ext cx="592379" cy="600075"/>
            <a:chOff x="0" y="0"/>
            <a:chExt cx="789838" cy="8001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89840" cy="800101"/>
            </a:xfrm>
            <a:custGeom>
              <a:avLst/>
              <a:gdLst/>
              <a:ahLst/>
              <a:cxnLst/>
              <a:rect r="r" b="b" t="t" l="l"/>
              <a:pathLst>
                <a:path h="800101" w="789840">
                  <a:moveTo>
                    <a:pt x="0" y="0"/>
                  </a:moveTo>
                  <a:lnTo>
                    <a:pt x="789840" y="0"/>
                  </a:lnTo>
                  <a:lnTo>
                    <a:pt x="789840" y="800101"/>
                  </a:lnTo>
                  <a:lnTo>
                    <a:pt x="0" y="8001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9970" t="0" r="-79970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789838" cy="82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52"/>
                </a:lnSpc>
              </a:pPr>
              <a:r>
                <a:rPr lang="en-US" sz="3460">
                  <a:solidFill>
                    <a:srgbClr val="9C7A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→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498973" y="5706589"/>
            <a:ext cx="3248025" cy="1143000"/>
            <a:chOff x="0" y="0"/>
            <a:chExt cx="4330700" cy="1524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3307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330700">
                  <a:moveTo>
                    <a:pt x="0" y="98298"/>
                  </a:moveTo>
                  <a:cubicBezTo>
                    <a:pt x="0" y="44069"/>
                    <a:pt x="44069" y="0"/>
                    <a:pt x="98298" y="0"/>
                  </a:cubicBezTo>
                  <a:lnTo>
                    <a:pt x="4232402" y="0"/>
                  </a:lnTo>
                  <a:cubicBezTo>
                    <a:pt x="4286631" y="0"/>
                    <a:pt x="4330700" y="44069"/>
                    <a:pt x="4330700" y="98298"/>
                  </a:cubicBezTo>
                  <a:lnTo>
                    <a:pt x="4330700" y="1425702"/>
                  </a:lnTo>
                  <a:cubicBezTo>
                    <a:pt x="4330700" y="1480058"/>
                    <a:pt x="4286631" y="1524000"/>
                    <a:pt x="4232402" y="1524000"/>
                  </a:cubicBezTo>
                  <a:lnTo>
                    <a:pt x="98298" y="1524000"/>
                  </a:lnTo>
                  <a:cubicBezTo>
                    <a:pt x="44069" y="1524000"/>
                    <a:pt x="0" y="1479931"/>
                    <a:pt x="0" y="1425702"/>
                  </a:cubicBezTo>
                  <a:close/>
                </a:path>
              </a:pathLst>
            </a:custGeom>
            <a:solidFill>
              <a:srgbClr val="FBF7EF"/>
            </a:solidFill>
            <a:ln w="9526" cap="sq">
              <a:solidFill>
                <a:srgbClr val="9C7B46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5317874" y="5938990"/>
            <a:ext cx="3610232" cy="352425"/>
            <a:chOff x="0" y="0"/>
            <a:chExt cx="4813643" cy="4699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813637" cy="469899"/>
            </a:xfrm>
            <a:custGeom>
              <a:avLst/>
              <a:gdLst/>
              <a:ahLst/>
              <a:cxnLst/>
              <a:rect r="r" b="b" t="t" l="l"/>
              <a:pathLst>
                <a:path h="469899" w="4813637">
                  <a:moveTo>
                    <a:pt x="0" y="0"/>
                  </a:moveTo>
                  <a:lnTo>
                    <a:pt x="4813637" y="0"/>
                  </a:lnTo>
                  <a:lnTo>
                    <a:pt x="4813637" y="469899"/>
                  </a:lnTo>
                  <a:lnTo>
                    <a:pt x="0" y="469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604" r="0" b="-14960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4813643" cy="488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23"/>
                </a:lnSpc>
              </a:pPr>
              <a:r>
                <a:rPr lang="en-US" sz="2019">
                  <a:solidFill>
                    <a:srgbClr val="2A242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Preprocess (grayscale,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642143" y="6258963"/>
            <a:ext cx="2961694" cy="352425"/>
            <a:chOff x="0" y="0"/>
            <a:chExt cx="3948925" cy="4699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948925" cy="469899"/>
            </a:xfrm>
            <a:custGeom>
              <a:avLst/>
              <a:gdLst/>
              <a:ahLst/>
              <a:cxnLst/>
              <a:rect r="r" b="b" t="t" l="l"/>
              <a:pathLst>
                <a:path h="469899" w="3948925">
                  <a:moveTo>
                    <a:pt x="0" y="0"/>
                  </a:moveTo>
                  <a:lnTo>
                    <a:pt x="3948925" y="0"/>
                  </a:lnTo>
                  <a:lnTo>
                    <a:pt x="3948925" y="469899"/>
                  </a:lnTo>
                  <a:lnTo>
                    <a:pt x="0" y="469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747" r="0" b="-11374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3948925" cy="488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23"/>
                </a:lnSpc>
              </a:pPr>
              <a:r>
                <a:rPr lang="en-US" sz="2019">
                  <a:solidFill>
                    <a:srgbClr val="2A242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resize, normalize)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960196" y="5977528"/>
            <a:ext cx="592379" cy="600075"/>
            <a:chOff x="0" y="0"/>
            <a:chExt cx="789838" cy="8001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89840" cy="800101"/>
            </a:xfrm>
            <a:custGeom>
              <a:avLst/>
              <a:gdLst/>
              <a:ahLst/>
              <a:cxnLst/>
              <a:rect r="r" b="b" t="t" l="l"/>
              <a:pathLst>
                <a:path h="800101" w="789840">
                  <a:moveTo>
                    <a:pt x="0" y="0"/>
                  </a:moveTo>
                  <a:lnTo>
                    <a:pt x="789840" y="0"/>
                  </a:lnTo>
                  <a:lnTo>
                    <a:pt x="789840" y="800101"/>
                  </a:lnTo>
                  <a:lnTo>
                    <a:pt x="0" y="8001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9970" t="0" r="-79970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789838" cy="82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52"/>
                </a:lnSpc>
              </a:pPr>
              <a:r>
                <a:rPr lang="en-US" sz="3460">
                  <a:solidFill>
                    <a:srgbClr val="9C7A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→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541145" y="5706589"/>
            <a:ext cx="3248025" cy="1143000"/>
            <a:chOff x="0" y="0"/>
            <a:chExt cx="4330700" cy="15240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3307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330700">
                  <a:moveTo>
                    <a:pt x="0" y="98298"/>
                  </a:moveTo>
                  <a:cubicBezTo>
                    <a:pt x="0" y="44069"/>
                    <a:pt x="44069" y="0"/>
                    <a:pt x="98298" y="0"/>
                  </a:cubicBezTo>
                  <a:lnTo>
                    <a:pt x="4232402" y="0"/>
                  </a:lnTo>
                  <a:cubicBezTo>
                    <a:pt x="4286631" y="0"/>
                    <a:pt x="4330700" y="44069"/>
                    <a:pt x="4330700" y="98298"/>
                  </a:cubicBezTo>
                  <a:lnTo>
                    <a:pt x="4330700" y="1425702"/>
                  </a:lnTo>
                  <a:cubicBezTo>
                    <a:pt x="4330700" y="1480058"/>
                    <a:pt x="4286631" y="1524000"/>
                    <a:pt x="4232402" y="1524000"/>
                  </a:cubicBezTo>
                  <a:lnTo>
                    <a:pt x="98298" y="1524000"/>
                  </a:lnTo>
                  <a:cubicBezTo>
                    <a:pt x="44069" y="1524000"/>
                    <a:pt x="0" y="1479931"/>
                    <a:pt x="0" y="1425702"/>
                  </a:cubicBezTo>
                  <a:close/>
                </a:path>
              </a:pathLst>
            </a:custGeom>
            <a:solidFill>
              <a:srgbClr val="FBF7EF"/>
            </a:solidFill>
            <a:ln w="9526" cap="sq">
              <a:solidFill>
                <a:srgbClr val="9C7B46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9781442" y="6076207"/>
            <a:ext cx="2767441" cy="400050"/>
            <a:chOff x="0" y="0"/>
            <a:chExt cx="3689922" cy="533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689925" cy="533400"/>
            </a:xfrm>
            <a:custGeom>
              <a:avLst/>
              <a:gdLst/>
              <a:ahLst/>
              <a:cxnLst/>
              <a:rect r="r" b="b" t="t" l="l"/>
              <a:pathLst>
                <a:path h="533400" w="3689925">
                  <a:moveTo>
                    <a:pt x="0" y="0"/>
                  </a:moveTo>
                  <a:lnTo>
                    <a:pt x="3689925" y="0"/>
                  </a:lnTo>
                  <a:lnTo>
                    <a:pt x="3689925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792" r="0" b="-84792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3689922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>
                  <a:solidFill>
                    <a:srgbClr val="2A242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Trained Model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3002368" y="5977528"/>
            <a:ext cx="592379" cy="600075"/>
            <a:chOff x="0" y="0"/>
            <a:chExt cx="789838" cy="8001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89840" cy="800101"/>
            </a:xfrm>
            <a:custGeom>
              <a:avLst/>
              <a:gdLst/>
              <a:ahLst/>
              <a:cxnLst/>
              <a:rect r="r" b="b" t="t" l="l"/>
              <a:pathLst>
                <a:path h="800101" w="789840">
                  <a:moveTo>
                    <a:pt x="0" y="0"/>
                  </a:moveTo>
                  <a:lnTo>
                    <a:pt x="789840" y="0"/>
                  </a:lnTo>
                  <a:lnTo>
                    <a:pt x="789840" y="800101"/>
                  </a:lnTo>
                  <a:lnTo>
                    <a:pt x="0" y="8001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9970" t="0" r="-79970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789838" cy="82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52"/>
                </a:lnSpc>
              </a:pPr>
              <a:r>
                <a:rPr lang="en-US" sz="3460">
                  <a:solidFill>
                    <a:srgbClr val="9C7A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→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583317" y="5706589"/>
            <a:ext cx="3248025" cy="1143000"/>
            <a:chOff x="0" y="0"/>
            <a:chExt cx="4330700" cy="15240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3307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330700">
                  <a:moveTo>
                    <a:pt x="0" y="98298"/>
                  </a:moveTo>
                  <a:cubicBezTo>
                    <a:pt x="0" y="44069"/>
                    <a:pt x="44069" y="0"/>
                    <a:pt x="98298" y="0"/>
                  </a:cubicBezTo>
                  <a:lnTo>
                    <a:pt x="4232402" y="0"/>
                  </a:lnTo>
                  <a:cubicBezTo>
                    <a:pt x="4286631" y="0"/>
                    <a:pt x="4330700" y="44069"/>
                    <a:pt x="4330700" y="98298"/>
                  </a:cubicBezTo>
                  <a:lnTo>
                    <a:pt x="4330700" y="1425702"/>
                  </a:lnTo>
                  <a:cubicBezTo>
                    <a:pt x="4330700" y="1480058"/>
                    <a:pt x="4286631" y="1524000"/>
                    <a:pt x="4232402" y="1524000"/>
                  </a:cubicBezTo>
                  <a:lnTo>
                    <a:pt x="98298" y="1524000"/>
                  </a:lnTo>
                  <a:cubicBezTo>
                    <a:pt x="44069" y="1524000"/>
                    <a:pt x="0" y="1479931"/>
                    <a:pt x="0" y="1425702"/>
                  </a:cubicBezTo>
                  <a:close/>
                </a:path>
              </a:pathLst>
            </a:custGeom>
            <a:solidFill>
              <a:srgbClr val="FBF7EF"/>
            </a:solidFill>
            <a:ln w="9526" cap="sq">
              <a:solidFill>
                <a:srgbClr val="9C7B46"/>
              </a:solidFill>
              <a:prstDash val="solid"/>
              <a:miter/>
            </a:ln>
          </p:spPr>
        </p:sp>
      </p:grpSp>
      <p:sp>
        <p:nvSpPr>
          <p:cNvPr name="TextBox 66" id="66"/>
          <p:cNvSpPr txBox="true"/>
          <p:nvPr/>
        </p:nvSpPr>
        <p:spPr>
          <a:xfrm rot="0">
            <a:off x="14056747" y="5871753"/>
            <a:ext cx="2301164" cy="794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</a:pPr>
            <a:r>
              <a:rPr lang="en-US" sz="230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Prediction +</a:t>
            </a:r>
          </a:p>
          <a:p>
            <a:pPr algn="ctr">
              <a:lnSpc>
                <a:spcPts val="2880"/>
              </a:lnSpc>
            </a:pPr>
            <a:r>
              <a:rPr lang="en-US" sz="230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Confidence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1462983" y="9213056"/>
            <a:ext cx="14502574" cy="428625"/>
            <a:chOff x="0" y="0"/>
            <a:chExt cx="19336766" cy="5715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9336762" cy="571501"/>
            </a:xfrm>
            <a:custGeom>
              <a:avLst/>
              <a:gdLst/>
              <a:ahLst/>
              <a:cxnLst/>
              <a:rect r="r" b="b" t="t" l="l"/>
              <a:pathLst>
                <a:path h="571501" w="19336762">
                  <a:moveTo>
                    <a:pt x="0" y="0"/>
                  </a:moveTo>
                  <a:lnTo>
                    <a:pt x="19336762" y="0"/>
                  </a:lnTo>
                  <a:lnTo>
                    <a:pt x="19336762" y="571501"/>
                  </a:lnTo>
                  <a:lnTo>
                    <a:pt x="0" y="5715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9276" r="0" b="-609276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19336766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7"/>
                </a:lnSpc>
              </a:pPr>
              <a:r>
                <a:rPr lang="en-US" sz="2440">
                  <a:solidFill>
                    <a:srgbClr val="74695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model is trained once, then reused for every live prediction in the app.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6497900" y="9249966"/>
            <a:ext cx="539563" cy="400050"/>
            <a:chOff x="0" y="0"/>
            <a:chExt cx="719417" cy="5334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19416" cy="533400"/>
            </a:xfrm>
            <a:custGeom>
              <a:avLst/>
              <a:gdLst/>
              <a:ahLst/>
              <a:cxnLst/>
              <a:rect r="r" b="b" t="t" l="l"/>
              <a:pathLst>
                <a:path h="533400" w="719416">
                  <a:moveTo>
                    <a:pt x="0" y="0"/>
                  </a:moveTo>
                  <a:lnTo>
                    <a:pt x="719416" y="0"/>
                  </a:lnTo>
                  <a:lnTo>
                    <a:pt x="719416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128" t="0" r="-45128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719417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74695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9D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2983" y="729558"/>
            <a:ext cx="4474293" cy="352425"/>
            <a:chOff x="0" y="0"/>
            <a:chExt cx="5965723" cy="469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965725" cy="469899"/>
            </a:xfrm>
            <a:custGeom>
              <a:avLst/>
              <a:gdLst/>
              <a:ahLst/>
              <a:cxnLst/>
              <a:rect r="r" b="b" t="t" l="l"/>
              <a:pathLst>
                <a:path h="469899" w="5965725">
                  <a:moveTo>
                    <a:pt x="0" y="0"/>
                  </a:moveTo>
                  <a:lnTo>
                    <a:pt x="5965725" y="0"/>
                  </a:lnTo>
                  <a:lnTo>
                    <a:pt x="5965725" y="469899"/>
                  </a:lnTo>
                  <a:lnTo>
                    <a:pt x="0" y="469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377" r="0" b="-19737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965723" cy="488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3"/>
                </a:lnSpc>
              </a:pPr>
              <a:r>
                <a:rPr lang="en-US" sz="2019" spc="431">
                  <a:solidFill>
                    <a:srgbClr val="9C7A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WORKING — STEP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62983" y="1282008"/>
            <a:ext cx="9751371" cy="1047750"/>
            <a:chOff x="0" y="0"/>
            <a:chExt cx="13001828" cy="1397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001824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001824">
                  <a:moveTo>
                    <a:pt x="0" y="0"/>
                  </a:moveTo>
                  <a:lnTo>
                    <a:pt x="13001824" y="0"/>
                  </a:lnTo>
                  <a:lnTo>
                    <a:pt x="13001824" y="1397000"/>
                  </a:lnTo>
                  <a:lnTo>
                    <a:pt x="0" y="139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346" r="0" b="-13134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3001828" cy="1425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47"/>
                </a:lnSpc>
              </a:pPr>
              <a:r>
                <a:rPr lang="en-US" sz="6040" b="true">
                  <a:solidFill>
                    <a:srgbClr val="2A242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Training the Model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3592" y="3048895"/>
            <a:ext cx="613667" cy="523875"/>
            <a:chOff x="0" y="0"/>
            <a:chExt cx="818223" cy="698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8219" cy="698499"/>
            </a:xfrm>
            <a:custGeom>
              <a:avLst/>
              <a:gdLst/>
              <a:ahLst/>
              <a:cxnLst/>
              <a:rect r="r" b="b" t="t" l="l"/>
              <a:pathLst>
                <a:path h="698499" w="818219">
                  <a:moveTo>
                    <a:pt x="0" y="0"/>
                  </a:moveTo>
                  <a:lnTo>
                    <a:pt x="818219" y="0"/>
                  </a:lnTo>
                  <a:lnTo>
                    <a:pt x="818219" y="698499"/>
                  </a:lnTo>
                  <a:lnTo>
                    <a:pt x="0" y="6984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530" t="0" r="-5953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818223" cy="727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23"/>
                </a:lnSpc>
              </a:pPr>
              <a:r>
                <a:rPr lang="en-US" sz="3020">
                  <a:solidFill>
                    <a:srgbClr val="9C7A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—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3592" y="4881562"/>
            <a:ext cx="613667" cy="523875"/>
            <a:chOff x="0" y="0"/>
            <a:chExt cx="818223" cy="698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8219" cy="698499"/>
            </a:xfrm>
            <a:custGeom>
              <a:avLst/>
              <a:gdLst/>
              <a:ahLst/>
              <a:cxnLst/>
              <a:rect r="r" b="b" t="t" l="l"/>
              <a:pathLst>
                <a:path h="698499" w="818219">
                  <a:moveTo>
                    <a:pt x="0" y="0"/>
                  </a:moveTo>
                  <a:lnTo>
                    <a:pt x="818219" y="0"/>
                  </a:lnTo>
                  <a:lnTo>
                    <a:pt x="818219" y="698499"/>
                  </a:lnTo>
                  <a:lnTo>
                    <a:pt x="0" y="6984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530" t="0" r="-5953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818223" cy="727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23"/>
                </a:lnSpc>
              </a:pPr>
              <a:r>
                <a:rPr lang="en-US" sz="3020">
                  <a:solidFill>
                    <a:srgbClr val="9C7A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—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3592" y="6753220"/>
            <a:ext cx="613667" cy="523875"/>
            <a:chOff x="0" y="0"/>
            <a:chExt cx="818223" cy="698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8219" cy="698499"/>
            </a:xfrm>
            <a:custGeom>
              <a:avLst/>
              <a:gdLst/>
              <a:ahLst/>
              <a:cxnLst/>
              <a:rect r="r" b="b" t="t" l="l"/>
              <a:pathLst>
                <a:path h="698499" w="818219">
                  <a:moveTo>
                    <a:pt x="0" y="0"/>
                  </a:moveTo>
                  <a:lnTo>
                    <a:pt x="818219" y="0"/>
                  </a:lnTo>
                  <a:lnTo>
                    <a:pt x="818219" y="698499"/>
                  </a:lnTo>
                  <a:lnTo>
                    <a:pt x="0" y="6984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530" t="0" r="-5953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818223" cy="727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23"/>
                </a:lnSpc>
              </a:pPr>
              <a:r>
                <a:rPr lang="en-US" sz="3020">
                  <a:solidFill>
                    <a:srgbClr val="9C7A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—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683987" y="8054570"/>
            <a:ext cx="8394706" cy="428625"/>
            <a:chOff x="0" y="0"/>
            <a:chExt cx="11192942" cy="571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192947" cy="571501"/>
            </a:xfrm>
            <a:custGeom>
              <a:avLst/>
              <a:gdLst/>
              <a:ahLst/>
              <a:cxnLst/>
              <a:rect r="r" b="b" t="t" l="l"/>
              <a:pathLst>
                <a:path h="571501" w="11192947">
                  <a:moveTo>
                    <a:pt x="0" y="0"/>
                  </a:moveTo>
                  <a:lnTo>
                    <a:pt x="11192947" y="0"/>
                  </a:lnTo>
                  <a:lnTo>
                    <a:pt x="11192947" y="571501"/>
                  </a:lnTo>
                  <a:lnTo>
                    <a:pt x="0" y="5715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617" r="0" b="-33161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1192942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27"/>
                </a:lnSpc>
              </a:pPr>
              <a:r>
                <a:rPr lang="en-US" sz="2440" i="true">
                  <a:solidFill>
                    <a:srgbClr val="74695A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Epoch-by-epoch training log from model.fit()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497900" y="9249966"/>
            <a:ext cx="539563" cy="400050"/>
            <a:chOff x="0" y="0"/>
            <a:chExt cx="719417" cy="533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9416" cy="533400"/>
            </a:xfrm>
            <a:custGeom>
              <a:avLst/>
              <a:gdLst/>
              <a:ahLst/>
              <a:cxnLst/>
              <a:rect r="r" b="b" t="t" l="l"/>
              <a:pathLst>
                <a:path h="533400" w="719416">
                  <a:moveTo>
                    <a:pt x="0" y="0"/>
                  </a:moveTo>
                  <a:lnTo>
                    <a:pt x="719416" y="0"/>
                  </a:lnTo>
                  <a:lnTo>
                    <a:pt x="719416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128" t="0" r="-45128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719417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74695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08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5854100" y="2507840"/>
            <a:ext cx="12433900" cy="5271321"/>
          </a:xfrm>
          <a:custGeom>
            <a:avLst/>
            <a:gdLst/>
            <a:ahLst/>
            <a:cxnLst/>
            <a:rect r="r" b="b" t="t" l="l"/>
            <a:pathLst>
              <a:path h="5271321" w="12433900">
                <a:moveTo>
                  <a:pt x="0" y="0"/>
                </a:moveTo>
                <a:lnTo>
                  <a:pt x="12433900" y="0"/>
                </a:lnTo>
                <a:lnTo>
                  <a:pt x="12433900" y="5271320"/>
                </a:lnTo>
                <a:lnTo>
                  <a:pt x="0" y="52713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02" r="0" b="-502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757259" y="2620570"/>
            <a:ext cx="7512653" cy="179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302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Trained for 10 epochs, with the</a:t>
            </a:r>
          </a:p>
          <a:p>
            <a:pPr algn="l">
              <a:lnSpc>
                <a:spcPts val="4536"/>
              </a:lnSpc>
            </a:pPr>
            <a:r>
              <a:rPr lang="en-US" sz="302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set passed in as validation</a:t>
            </a:r>
          </a:p>
          <a:p>
            <a:pPr algn="l">
              <a:lnSpc>
                <a:spcPts val="4536"/>
              </a:lnSpc>
            </a:pPr>
            <a:r>
              <a:rPr lang="en-US" sz="302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57259" y="4496395"/>
            <a:ext cx="7094353" cy="179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302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Keras prints training and</a:t>
            </a:r>
          </a:p>
          <a:p>
            <a:pPr algn="l">
              <a:lnSpc>
                <a:spcPts val="4536"/>
              </a:lnSpc>
            </a:pPr>
            <a:r>
              <a:rPr lang="en-US" sz="302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validation accuracy/loss after</a:t>
            </a:r>
          </a:p>
          <a:p>
            <a:pPr algn="l">
              <a:lnSpc>
                <a:spcPts val="4536"/>
              </a:lnSpc>
            </a:pPr>
            <a:r>
              <a:rPr lang="en-US" sz="302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epoch.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57259" y="6565018"/>
            <a:ext cx="7421328" cy="1214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302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Watching both curves together</a:t>
            </a:r>
          </a:p>
          <a:p>
            <a:pPr algn="l">
              <a:lnSpc>
                <a:spcPts val="4536"/>
              </a:lnSpc>
            </a:pPr>
            <a:r>
              <a:rPr lang="en-US" sz="302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catch overfitting early.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9D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2983" y="729558"/>
            <a:ext cx="4474293" cy="352425"/>
            <a:chOff x="0" y="0"/>
            <a:chExt cx="5965723" cy="469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965725" cy="469899"/>
            </a:xfrm>
            <a:custGeom>
              <a:avLst/>
              <a:gdLst/>
              <a:ahLst/>
              <a:cxnLst/>
              <a:rect r="r" b="b" t="t" l="l"/>
              <a:pathLst>
                <a:path h="469899" w="5965725">
                  <a:moveTo>
                    <a:pt x="0" y="0"/>
                  </a:moveTo>
                  <a:lnTo>
                    <a:pt x="5965725" y="0"/>
                  </a:lnTo>
                  <a:lnTo>
                    <a:pt x="5965725" y="469899"/>
                  </a:lnTo>
                  <a:lnTo>
                    <a:pt x="0" y="469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377" r="0" b="-19737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965723" cy="488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3"/>
                </a:lnSpc>
              </a:pPr>
              <a:r>
                <a:rPr lang="en-US" sz="2019" spc="431">
                  <a:solidFill>
                    <a:srgbClr val="9C7A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WORKING — STEP 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62983" y="1282008"/>
            <a:ext cx="13215566" cy="1047750"/>
            <a:chOff x="0" y="0"/>
            <a:chExt cx="17620755" cy="1397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620755" cy="1397000"/>
            </a:xfrm>
            <a:custGeom>
              <a:avLst/>
              <a:gdLst/>
              <a:ahLst/>
              <a:cxnLst/>
              <a:rect r="r" b="b" t="t" l="l"/>
              <a:pathLst>
                <a:path h="1397000" w="17620755">
                  <a:moveTo>
                    <a:pt x="0" y="0"/>
                  </a:moveTo>
                  <a:lnTo>
                    <a:pt x="17620755" y="0"/>
                  </a:lnTo>
                  <a:lnTo>
                    <a:pt x="17620755" y="1397000"/>
                  </a:lnTo>
                  <a:lnTo>
                    <a:pt x="0" y="139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770" r="0" b="-19577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7620755" cy="1425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47"/>
                </a:lnSpc>
              </a:pPr>
              <a:r>
                <a:rPr lang="en-US" sz="6040" b="true">
                  <a:solidFill>
                    <a:srgbClr val="2A242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Accuracy and Loss Curves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1049" y="2469880"/>
            <a:ext cx="1466850" cy="28575"/>
            <a:chOff x="0" y="0"/>
            <a:chExt cx="19558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5800" cy="38100"/>
            </a:xfrm>
            <a:custGeom>
              <a:avLst/>
              <a:gdLst/>
              <a:ahLst/>
              <a:cxnLst/>
              <a:rect r="r" b="b" t="t" l="l"/>
              <a:pathLst>
                <a:path h="38100" w="1955800">
                  <a:moveTo>
                    <a:pt x="0" y="0"/>
                  </a:moveTo>
                  <a:lnTo>
                    <a:pt x="1955800" y="0"/>
                  </a:lnTo>
                  <a:lnTo>
                    <a:pt x="1955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9C7A4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61049" y="8120353"/>
            <a:ext cx="6595577" cy="400050"/>
            <a:chOff x="0" y="0"/>
            <a:chExt cx="8794102" cy="533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94096" cy="533400"/>
            </a:xfrm>
            <a:custGeom>
              <a:avLst/>
              <a:gdLst/>
              <a:ahLst/>
              <a:cxnLst/>
              <a:rect r="r" b="b" t="t" l="l"/>
              <a:pathLst>
                <a:path h="533400" w="8794096">
                  <a:moveTo>
                    <a:pt x="0" y="0"/>
                  </a:moveTo>
                  <a:lnTo>
                    <a:pt x="8794096" y="0"/>
                  </a:lnTo>
                  <a:lnTo>
                    <a:pt x="8794096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247" r="0" b="-27124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8794102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i="true">
                  <a:solidFill>
                    <a:srgbClr val="74695A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Training vs. validation accuracy plot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572103" y="8120353"/>
            <a:ext cx="5687197" cy="400050"/>
            <a:chOff x="0" y="0"/>
            <a:chExt cx="7582929" cy="533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582931" cy="533400"/>
            </a:xfrm>
            <a:custGeom>
              <a:avLst/>
              <a:gdLst/>
              <a:ahLst/>
              <a:cxnLst/>
              <a:rect r="r" b="b" t="t" l="l"/>
              <a:pathLst>
                <a:path h="533400" w="7582931">
                  <a:moveTo>
                    <a:pt x="0" y="0"/>
                  </a:moveTo>
                  <a:lnTo>
                    <a:pt x="7582931" y="0"/>
                  </a:lnTo>
                  <a:lnTo>
                    <a:pt x="7582931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003" r="0" b="-22700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7582929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i="true">
                  <a:solidFill>
                    <a:srgbClr val="74695A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Training vs. validation loss plot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62983" y="9213056"/>
            <a:ext cx="14464846" cy="428625"/>
            <a:chOff x="0" y="0"/>
            <a:chExt cx="19286461" cy="571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286458" cy="571501"/>
            </a:xfrm>
            <a:custGeom>
              <a:avLst/>
              <a:gdLst/>
              <a:ahLst/>
              <a:cxnLst/>
              <a:rect r="r" b="b" t="t" l="l"/>
              <a:pathLst>
                <a:path h="571501" w="19286458">
                  <a:moveTo>
                    <a:pt x="0" y="0"/>
                  </a:moveTo>
                  <a:lnTo>
                    <a:pt x="19286458" y="0"/>
                  </a:lnTo>
                  <a:lnTo>
                    <a:pt x="19286458" y="571501"/>
                  </a:lnTo>
                  <a:lnTo>
                    <a:pt x="0" y="5715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7561" r="0" b="-60756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9286461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7"/>
                </a:lnSpc>
              </a:pPr>
              <a:r>
                <a:rPr lang="en-US" sz="2440">
                  <a:solidFill>
                    <a:srgbClr val="74695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Closely-tracking, steadily rising curves confirm the model generalizes well.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497900" y="9249966"/>
            <a:ext cx="539563" cy="400050"/>
            <a:chOff x="0" y="0"/>
            <a:chExt cx="719417" cy="533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9416" cy="533400"/>
            </a:xfrm>
            <a:custGeom>
              <a:avLst/>
              <a:gdLst/>
              <a:ahLst/>
              <a:cxnLst/>
              <a:rect r="r" b="b" t="t" l="l"/>
              <a:pathLst>
                <a:path h="533400" w="719416">
                  <a:moveTo>
                    <a:pt x="0" y="0"/>
                  </a:moveTo>
                  <a:lnTo>
                    <a:pt x="719416" y="0"/>
                  </a:lnTo>
                  <a:lnTo>
                    <a:pt x="719416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128" t="0" r="-45128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719417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74695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09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23693" y="2314661"/>
            <a:ext cx="8351371" cy="5657677"/>
          </a:xfrm>
          <a:custGeom>
            <a:avLst/>
            <a:gdLst/>
            <a:ahLst/>
            <a:cxnLst/>
            <a:rect r="r" b="b" t="t" l="l"/>
            <a:pathLst>
              <a:path h="5657677" w="8351371">
                <a:moveTo>
                  <a:pt x="0" y="0"/>
                </a:moveTo>
                <a:lnTo>
                  <a:pt x="8351371" y="0"/>
                </a:lnTo>
                <a:lnTo>
                  <a:pt x="8351371" y="5657678"/>
                </a:lnTo>
                <a:lnTo>
                  <a:pt x="0" y="56576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81" t="0" r="0" b="-364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812936" y="2304354"/>
            <a:ext cx="8475064" cy="5678293"/>
          </a:xfrm>
          <a:custGeom>
            <a:avLst/>
            <a:gdLst/>
            <a:ahLst/>
            <a:cxnLst/>
            <a:rect r="r" b="b" t="t" l="l"/>
            <a:pathLst>
              <a:path h="5678293" w="8475064">
                <a:moveTo>
                  <a:pt x="0" y="0"/>
                </a:moveTo>
                <a:lnTo>
                  <a:pt x="8475064" y="0"/>
                </a:lnTo>
                <a:lnTo>
                  <a:pt x="8475064" y="5678292"/>
                </a:lnTo>
                <a:lnTo>
                  <a:pt x="0" y="56782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9D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2983" y="729558"/>
            <a:ext cx="4474293" cy="352425"/>
            <a:chOff x="0" y="0"/>
            <a:chExt cx="5965723" cy="469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965725" cy="469899"/>
            </a:xfrm>
            <a:custGeom>
              <a:avLst/>
              <a:gdLst/>
              <a:ahLst/>
              <a:cxnLst/>
              <a:rect r="r" b="b" t="t" l="l"/>
              <a:pathLst>
                <a:path h="469899" w="5965725">
                  <a:moveTo>
                    <a:pt x="0" y="0"/>
                  </a:moveTo>
                  <a:lnTo>
                    <a:pt x="5965725" y="0"/>
                  </a:lnTo>
                  <a:lnTo>
                    <a:pt x="5965725" y="469899"/>
                  </a:lnTo>
                  <a:lnTo>
                    <a:pt x="0" y="469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377" r="0" b="-19737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965723" cy="488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3"/>
                </a:lnSpc>
              </a:pPr>
              <a:r>
                <a:rPr lang="en-US" sz="2019" spc="431">
                  <a:solidFill>
                    <a:srgbClr val="9C7A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WORKING — STEP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62983" y="1282008"/>
            <a:ext cx="9332100" cy="1047750"/>
            <a:chOff x="0" y="0"/>
            <a:chExt cx="12442800" cy="1397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42806" cy="1397000"/>
            </a:xfrm>
            <a:custGeom>
              <a:avLst/>
              <a:gdLst/>
              <a:ahLst/>
              <a:cxnLst/>
              <a:rect r="r" b="b" t="t" l="l"/>
              <a:pathLst>
                <a:path h="1397000" w="12442806">
                  <a:moveTo>
                    <a:pt x="0" y="0"/>
                  </a:moveTo>
                  <a:lnTo>
                    <a:pt x="12442806" y="0"/>
                  </a:lnTo>
                  <a:lnTo>
                    <a:pt x="12442806" y="1397000"/>
                  </a:lnTo>
                  <a:lnTo>
                    <a:pt x="0" y="139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49" r="0" b="-12354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2442800" cy="1425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47"/>
                </a:lnSpc>
              </a:pPr>
              <a:r>
                <a:rPr lang="en-US" sz="6040" b="true">
                  <a:solidFill>
                    <a:srgbClr val="2A242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The Streamlit App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1049" y="2469880"/>
            <a:ext cx="1466850" cy="28575"/>
            <a:chOff x="0" y="0"/>
            <a:chExt cx="19558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5800" cy="38100"/>
            </a:xfrm>
            <a:custGeom>
              <a:avLst/>
              <a:gdLst/>
              <a:ahLst/>
              <a:cxnLst/>
              <a:rect r="r" b="b" t="t" l="l"/>
              <a:pathLst>
                <a:path h="38100" w="1955800">
                  <a:moveTo>
                    <a:pt x="0" y="0"/>
                  </a:moveTo>
                  <a:lnTo>
                    <a:pt x="1955800" y="0"/>
                  </a:lnTo>
                  <a:lnTo>
                    <a:pt x="1955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9C7A4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62983" y="3225108"/>
            <a:ext cx="589864" cy="495300"/>
            <a:chOff x="0" y="0"/>
            <a:chExt cx="786486" cy="660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6488" cy="660400"/>
            </a:xfrm>
            <a:custGeom>
              <a:avLst/>
              <a:gdLst/>
              <a:ahLst/>
              <a:cxnLst/>
              <a:rect r="r" b="b" t="t" l="l"/>
              <a:pathLst>
                <a:path h="660400" w="786488">
                  <a:moveTo>
                    <a:pt x="0" y="0"/>
                  </a:moveTo>
                  <a:lnTo>
                    <a:pt x="786488" y="0"/>
                  </a:lnTo>
                  <a:lnTo>
                    <a:pt x="786488" y="660400"/>
                  </a:lnTo>
                  <a:lnTo>
                    <a:pt x="0" y="660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734" t="0" r="-57734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786486" cy="679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5"/>
                </a:lnSpc>
              </a:pPr>
              <a:r>
                <a:rPr lang="en-US" sz="2879">
                  <a:solidFill>
                    <a:srgbClr val="9C7A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—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62983" y="4590012"/>
            <a:ext cx="589864" cy="495300"/>
            <a:chOff x="0" y="0"/>
            <a:chExt cx="786486" cy="660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86488" cy="660400"/>
            </a:xfrm>
            <a:custGeom>
              <a:avLst/>
              <a:gdLst/>
              <a:ahLst/>
              <a:cxnLst/>
              <a:rect r="r" b="b" t="t" l="l"/>
              <a:pathLst>
                <a:path h="660400" w="786488">
                  <a:moveTo>
                    <a:pt x="0" y="0"/>
                  </a:moveTo>
                  <a:lnTo>
                    <a:pt x="786488" y="0"/>
                  </a:lnTo>
                  <a:lnTo>
                    <a:pt x="786488" y="660400"/>
                  </a:lnTo>
                  <a:lnTo>
                    <a:pt x="0" y="660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734" t="0" r="-5773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786486" cy="679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5"/>
                </a:lnSpc>
              </a:pPr>
              <a:r>
                <a:rPr lang="en-US" sz="2879">
                  <a:solidFill>
                    <a:srgbClr val="9C7A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—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62983" y="5954906"/>
            <a:ext cx="589864" cy="495300"/>
            <a:chOff x="0" y="0"/>
            <a:chExt cx="786486" cy="660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86488" cy="660400"/>
            </a:xfrm>
            <a:custGeom>
              <a:avLst/>
              <a:gdLst/>
              <a:ahLst/>
              <a:cxnLst/>
              <a:rect r="r" b="b" t="t" l="l"/>
              <a:pathLst>
                <a:path h="660400" w="786488">
                  <a:moveTo>
                    <a:pt x="0" y="0"/>
                  </a:moveTo>
                  <a:lnTo>
                    <a:pt x="786488" y="0"/>
                  </a:lnTo>
                  <a:lnTo>
                    <a:pt x="786488" y="660400"/>
                  </a:lnTo>
                  <a:lnTo>
                    <a:pt x="0" y="660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734" t="0" r="-57734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786486" cy="679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5"/>
                </a:lnSpc>
              </a:pPr>
              <a:r>
                <a:rPr lang="en-US" sz="2879">
                  <a:solidFill>
                    <a:srgbClr val="9C7A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—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62983" y="7319810"/>
            <a:ext cx="589864" cy="495300"/>
            <a:chOff x="0" y="0"/>
            <a:chExt cx="786486" cy="660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86488" cy="660400"/>
            </a:xfrm>
            <a:custGeom>
              <a:avLst/>
              <a:gdLst/>
              <a:ahLst/>
              <a:cxnLst/>
              <a:rect r="r" b="b" t="t" l="l"/>
              <a:pathLst>
                <a:path h="660400" w="786488">
                  <a:moveTo>
                    <a:pt x="0" y="0"/>
                  </a:moveTo>
                  <a:lnTo>
                    <a:pt x="786488" y="0"/>
                  </a:lnTo>
                  <a:lnTo>
                    <a:pt x="786488" y="660400"/>
                  </a:lnTo>
                  <a:lnTo>
                    <a:pt x="0" y="660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734" t="0" r="-57734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786486" cy="679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5"/>
                </a:lnSpc>
              </a:pPr>
              <a:r>
                <a:rPr lang="en-US" sz="2879">
                  <a:solidFill>
                    <a:srgbClr val="9C7A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—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783756" y="9472612"/>
            <a:ext cx="8189043" cy="428625"/>
            <a:chOff x="0" y="0"/>
            <a:chExt cx="10918723" cy="5715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18725" cy="571501"/>
            </a:xfrm>
            <a:custGeom>
              <a:avLst/>
              <a:gdLst/>
              <a:ahLst/>
              <a:cxnLst/>
              <a:rect r="r" b="b" t="t" l="l"/>
              <a:pathLst>
                <a:path h="571501" w="10918725">
                  <a:moveTo>
                    <a:pt x="0" y="0"/>
                  </a:moveTo>
                  <a:lnTo>
                    <a:pt x="10918725" y="0"/>
                  </a:lnTo>
                  <a:lnTo>
                    <a:pt x="10918725" y="571501"/>
                  </a:lnTo>
                  <a:lnTo>
                    <a:pt x="0" y="5715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268" r="0" b="-32226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10918723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27"/>
                </a:lnSpc>
              </a:pPr>
              <a:r>
                <a:rPr lang="en-US" sz="2440" i="true">
                  <a:solidFill>
                    <a:srgbClr val="74695A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Drawing canvas with a live digit prediction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7259300" y="9686925"/>
            <a:ext cx="539563" cy="400050"/>
            <a:chOff x="0" y="0"/>
            <a:chExt cx="719417" cy="533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19416" cy="533400"/>
            </a:xfrm>
            <a:custGeom>
              <a:avLst/>
              <a:gdLst/>
              <a:ahLst/>
              <a:cxnLst/>
              <a:rect r="r" b="b" t="t" l="l"/>
              <a:pathLst>
                <a:path h="533400" w="719416">
                  <a:moveTo>
                    <a:pt x="0" y="0"/>
                  </a:moveTo>
                  <a:lnTo>
                    <a:pt x="719416" y="0"/>
                  </a:lnTo>
                  <a:lnTo>
                    <a:pt x="719416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128" t="0" r="-45128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719417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74695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1124652" y="0"/>
            <a:ext cx="7163348" cy="5085312"/>
          </a:xfrm>
          <a:custGeom>
            <a:avLst/>
            <a:gdLst/>
            <a:ahLst/>
            <a:cxnLst/>
            <a:rect r="r" b="b" t="t" l="l"/>
            <a:pathLst>
              <a:path h="5085312" w="7163348">
                <a:moveTo>
                  <a:pt x="0" y="0"/>
                </a:moveTo>
                <a:lnTo>
                  <a:pt x="7163348" y="0"/>
                </a:lnTo>
                <a:lnTo>
                  <a:pt x="7163348" y="5085312"/>
                </a:lnTo>
                <a:lnTo>
                  <a:pt x="0" y="50853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5415" r="0" b="-7339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1124652" y="5085312"/>
            <a:ext cx="7163348" cy="4387301"/>
          </a:xfrm>
          <a:custGeom>
            <a:avLst/>
            <a:gdLst/>
            <a:ahLst/>
            <a:cxnLst/>
            <a:rect r="r" b="b" t="t" l="l"/>
            <a:pathLst>
              <a:path h="4387301" w="7163348">
                <a:moveTo>
                  <a:pt x="0" y="0"/>
                </a:moveTo>
                <a:lnTo>
                  <a:pt x="7163348" y="0"/>
                </a:lnTo>
                <a:lnTo>
                  <a:pt x="7163348" y="4387300"/>
                </a:lnTo>
                <a:lnTo>
                  <a:pt x="0" y="43873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438" r="0" b="-6438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2084784" y="3206058"/>
            <a:ext cx="7594302" cy="1148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879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draws a digit on a 280×280</a:t>
            </a:r>
          </a:p>
          <a:p>
            <a:pPr algn="l">
              <a:lnSpc>
                <a:spcPts val="4320"/>
              </a:lnSpc>
            </a:pPr>
            <a:r>
              <a:rPr lang="en-US" sz="2879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canvas — white strokes on black.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084784" y="4570962"/>
            <a:ext cx="7698972" cy="1148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879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Converted to grayscale, resized to</a:t>
            </a:r>
          </a:p>
          <a:p>
            <a:pPr algn="l">
              <a:lnSpc>
                <a:spcPts val="4320"/>
              </a:lnSpc>
            </a:pPr>
            <a:r>
              <a:rPr lang="en-US" sz="2879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28×28, and normalized.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084784" y="5935866"/>
            <a:ext cx="8289846" cy="1148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879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Reshaped to (1, 28, 28, 1) and passed</a:t>
            </a:r>
          </a:p>
          <a:p>
            <a:pPr algn="l">
              <a:lnSpc>
                <a:spcPts val="4320"/>
              </a:lnSpc>
            </a:pPr>
            <a:r>
              <a:rPr lang="en-US" sz="2879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trained model.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084784" y="7300760"/>
            <a:ext cx="8174726" cy="1148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879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 shows the predicted digit,</a:t>
            </a:r>
          </a:p>
          <a:p>
            <a:pPr algn="l">
              <a:lnSpc>
                <a:spcPts val="4320"/>
              </a:lnSpc>
            </a:pPr>
            <a:r>
              <a:rPr lang="en-US" sz="2879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confidence, and a probability chart.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9D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2983" y="1282008"/>
            <a:ext cx="3786292" cy="1047750"/>
            <a:chOff x="0" y="0"/>
            <a:chExt cx="5048390" cy="139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48390" cy="1397000"/>
            </a:xfrm>
            <a:custGeom>
              <a:avLst/>
              <a:gdLst/>
              <a:ahLst/>
              <a:cxnLst/>
              <a:rect r="r" b="b" t="t" l="l"/>
              <a:pathLst>
                <a:path h="1397000" w="5048390">
                  <a:moveTo>
                    <a:pt x="0" y="0"/>
                  </a:moveTo>
                  <a:lnTo>
                    <a:pt x="5048390" y="0"/>
                  </a:lnTo>
                  <a:lnTo>
                    <a:pt x="5048390" y="1397000"/>
                  </a:lnTo>
                  <a:lnTo>
                    <a:pt x="0" y="139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13" r="0" b="-204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5048390" cy="1425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47"/>
                </a:lnSpc>
              </a:pPr>
              <a:r>
                <a:rPr lang="en-US" sz="6040" b="true">
                  <a:solidFill>
                    <a:srgbClr val="2A242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Results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62983" y="3080299"/>
            <a:ext cx="7874451" cy="2362200"/>
            <a:chOff x="0" y="0"/>
            <a:chExt cx="10499268" cy="3149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99269" cy="3149600"/>
            </a:xfrm>
            <a:custGeom>
              <a:avLst/>
              <a:gdLst/>
              <a:ahLst/>
              <a:cxnLst/>
              <a:rect r="r" b="b" t="t" l="l"/>
              <a:pathLst>
                <a:path h="3149600" w="10499269">
                  <a:moveTo>
                    <a:pt x="0" y="0"/>
                  </a:moveTo>
                  <a:lnTo>
                    <a:pt x="10499269" y="0"/>
                  </a:lnTo>
                  <a:lnTo>
                    <a:pt x="10499269" y="3149600"/>
                  </a:lnTo>
                  <a:lnTo>
                    <a:pt x="0" y="314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3" r="0" b="-1495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0499268" cy="3225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416"/>
                </a:lnSpc>
              </a:pPr>
              <a:r>
                <a:rPr lang="en-US" sz="13680" b="true">
                  <a:solidFill>
                    <a:srgbClr val="9C7A4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99.18%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2983" y="5305273"/>
            <a:ext cx="10564940" cy="495300"/>
            <a:chOff x="0" y="0"/>
            <a:chExt cx="14086586" cy="660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086582" cy="660400"/>
            </a:xfrm>
            <a:custGeom>
              <a:avLst/>
              <a:gdLst/>
              <a:ahLst/>
              <a:cxnLst/>
              <a:rect r="r" b="b" t="t" l="l"/>
              <a:pathLst>
                <a:path h="660400" w="14086582">
                  <a:moveTo>
                    <a:pt x="0" y="0"/>
                  </a:moveTo>
                  <a:lnTo>
                    <a:pt x="14086582" y="0"/>
                  </a:lnTo>
                  <a:lnTo>
                    <a:pt x="14086582" y="660400"/>
                  </a:lnTo>
                  <a:lnTo>
                    <a:pt x="0" y="660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5623" r="0" b="-36562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4086586" cy="679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5"/>
                </a:lnSpc>
              </a:pPr>
              <a:r>
                <a:rPr lang="en-US" sz="2879">
                  <a:solidFill>
                    <a:srgbClr val="74695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Test accuracy on 10,000 unseen MNIST images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607126" y="3430791"/>
            <a:ext cx="565871" cy="476250"/>
            <a:chOff x="0" y="0"/>
            <a:chExt cx="754494" cy="635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54499" cy="635000"/>
            </a:xfrm>
            <a:custGeom>
              <a:avLst/>
              <a:gdLst/>
              <a:ahLst/>
              <a:cxnLst/>
              <a:rect r="r" b="b" t="t" l="l"/>
              <a:pathLst>
                <a:path h="635000" w="754499">
                  <a:moveTo>
                    <a:pt x="0" y="0"/>
                  </a:moveTo>
                  <a:lnTo>
                    <a:pt x="754499" y="0"/>
                  </a:lnTo>
                  <a:lnTo>
                    <a:pt x="754499" y="635000"/>
                  </a:lnTo>
                  <a:lnTo>
                    <a:pt x="0" y="63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982" t="0" r="-57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754494" cy="654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87"/>
                </a:lnSpc>
              </a:pPr>
              <a:r>
                <a:rPr lang="en-US" sz="2740">
                  <a:solidFill>
                    <a:srgbClr val="9C7A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—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1173863" y="3411731"/>
            <a:ext cx="5708866" cy="1102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4"/>
              </a:lnSpc>
            </a:pPr>
            <a:r>
              <a:rPr lang="en-US" sz="274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loss of 0.0327 after 10</a:t>
            </a:r>
          </a:p>
          <a:p>
            <a:pPr algn="l">
              <a:lnSpc>
                <a:spcPts val="4104"/>
              </a:lnSpc>
            </a:pPr>
            <a:r>
              <a:rPr lang="en-US" sz="274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epochs.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607126" y="4740621"/>
            <a:ext cx="565871" cy="476250"/>
            <a:chOff x="0" y="0"/>
            <a:chExt cx="754494" cy="635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54499" cy="635000"/>
            </a:xfrm>
            <a:custGeom>
              <a:avLst/>
              <a:gdLst/>
              <a:ahLst/>
              <a:cxnLst/>
              <a:rect r="r" b="b" t="t" l="l"/>
              <a:pathLst>
                <a:path h="635000" w="754499">
                  <a:moveTo>
                    <a:pt x="0" y="0"/>
                  </a:moveTo>
                  <a:lnTo>
                    <a:pt x="754499" y="0"/>
                  </a:lnTo>
                  <a:lnTo>
                    <a:pt x="754499" y="635000"/>
                  </a:lnTo>
                  <a:lnTo>
                    <a:pt x="0" y="63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982" t="0" r="-5798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754494" cy="654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87"/>
                </a:lnSpc>
              </a:pPr>
              <a:r>
                <a:rPr lang="en-US" sz="2740">
                  <a:solidFill>
                    <a:srgbClr val="9C7A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—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173863" y="4721571"/>
            <a:ext cx="5855332" cy="1102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4"/>
              </a:lnSpc>
            </a:pPr>
            <a:r>
              <a:rPr lang="en-US" sz="274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accuracy reached</a:t>
            </a:r>
          </a:p>
          <a:p>
            <a:pPr algn="l">
              <a:lnSpc>
                <a:spcPts val="4104"/>
              </a:lnSpc>
            </a:pPr>
            <a:r>
              <a:rPr lang="en-US" sz="274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99.01% by the final epoch.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126" y="6050461"/>
            <a:ext cx="565871" cy="476250"/>
            <a:chOff x="0" y="0"/>
            <a:chExt cx="754494" cy="635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54499" cy="635000"/>
            </a:xfrm>
            <a:custGeom>
              <a:avLst/>
              <a:gdLst/>
              <a:ahLst/>
              <a:cxnLst/>
              <a:rect r="r" b="b" t="t" l="l"/>
              <a:pathLst>
                <a:path h="635000" w="754499">
                  <a:moveTo>
                    <a:pt x="0" y="0"/>
                  </a:moveTo>
                  <a:lnTo>
                    <a:pt x="754499" y="0"/>
                  </a:lnTo>
                  <a:lnTo>
                    <a:pt x="754499" y="635000"/>
                  </a:lnTo>
                  <a:lnTo>
                    <a:pt x="0" y="63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982" t="0" r="-57982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754494" cy="654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87"/>
                </a:lnSpc>
              </a:pPr>
              <a:r>
                <a:rPr lang="en-US" sz="2740">
                  <a:solidFill>
                    <a:srgbClr val="9C7A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—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1173863" y="6031411"/>
            <a:ext cx="5854751" cy="1623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4"/>
              </a:lnSpc>
            </a:pPr>
            <a:r>
              <a:rPr lang="en-US" sz="274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Validation accuracy stayed</a:t>
            </a:r>
          </a:p>
          <a:p>
            <a:pPr algn="l">
              <a:lnSpc>
                <a:spcPts val="4104"/>
              </a:lnSpc>
            </a:pPr>
            <a:r>
              <a:rPr lang="en-US" sz="274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close throughout — no</a:t>
            </a:r>
          </a:p>
          <a:p>
            <a:pPr algn="l">
              <a:lnSpc>
                <a:spcPts val="4104"/>
              </a:lnSpc>
            </a:pPr>
            <a:r>
              <a:rPr lang="en-US" sz="274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meaningful overfitting.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6497900" y="9249966"/>
            <a:ext cx="539563" cy="400050"/>
            <a:chOff x="0" y="0"/>
            <a:chExt cx="719417" cy="533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9416" cy="533400"/>
            </a:xfrm>
            <a:custGeom>
              <a:avLst/>
              <a:gdLst/>
              <a:ahLst/>
              <a:cxnLst/>
              <a:rect r="r" b="b" t="t" l="l"/>
              <a:pathLst>
                <a:path h="533400" w="719416">
                  <a:moveTo>
                    <a:pt x="0" y="0"/>
                  </a:moveTo>
                  <a:lnTo>
                    <a:pt x="719416" y="0"/>
                  </a:lnTo>
                  <a:lnTo>
                    <a:pt x="719416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128" t="0" r="-45128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719417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74695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9D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2983" y="1282008"/>
            <a:ext cx="6501736" cy="1047750"/>
            <a:chOff x="0" y="0"/>
            <a:chExt cx="8668982" cy="139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668982" cy="1397000"/>
            </a:xfrm>
            <a:custGeom>
              <a:avLst/>
              <a:gdLst/>
              <a:ahLst/>
              <a:cxnLst/>
              <a:rect r="r" b="b" t="t" l="l"/>
              <a:pathLst>
                <a:path h="1397000" w="8668982">
                  <a:moveTo>
                    <a:pt x="0" y="0"/>
                  </a:moveTo>
                  <a:lnTo>
                    <a:pt x="8668982" y="0"/>
                  </a:lnTo>
                  <a:lnTo>
                    <a:pt x="8668982" y="1397000"/>
                  </a:lnTo>
                  <a:lnTo>
                    <a:pt x="0" y="139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912" r="0" b="-7091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8668982" cy="1425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47"/>
                </a:lnSpc>
              </a:pPr>
              <a:r>
                <a:rPr lang="en-US" sz="6040" b="true">
                  <a:solidFill>
                    <a:srgbClr val="2A242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Applications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62983" y="3215583"/>
            <a:ext cx="613667" cy="523875"/>
            <a:chOff x="0" y="0"/>
            <a:chExt cx="818223" cy="698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8219" cy="698499"/>
            </a:xfrm>
            <a:custGeom>
              <a:avLst/>
              <a:gdLst/>
              <a:ahLst/>
              <a:cxnLst/>
              <a:rect r="r" b="b" t="t" l="l"/>
              <a:pathLst>
                <a:path h="698499" w="818219">
                  <a:moveTo>
                    <a:pt x="0" y="0"/>
                  </a:moveTo>
                  <a:lnTo>
                    <a:pt x="818219" y="0"/>
                  </a:lnTo>
                  <a:lnTo>
                    <a:pt x="818219" y="698499"/>
                  </a:lnTo>
                  <a:lnTo>
                    <a:pt x="0" y="6984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530" t="0" r="-5953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818223" cy="727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23"/>
                </a:lnSpc>
              </a:pPr>
              <a:r>
                <a:rPr lang="en-US" sz="3020">
                  <a:solidFill>
                    <a:srgbClr val="9C7A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—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103091" y="3196533"/>
            <a:ext cx="8657253" cy="1214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302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digits on bank cheques and</a:t>
            </a:r>
          </a:p>
          <a:p>
            <a:pPr algn="l">
              <a:lnSpc>
                <a:spcPts val="4536"/>
              </a:lnSpc>
            </a:pPr>
            <a:r>
              <a:rPr lang="en-US" sz="302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payment slips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418139" y="3215583"/>
            <a:ext cx="613667" cy="523875"/>
            <a:chOff x="0" y="0"/>
            <a:chExt cx="818223" cy="698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8219" cy="698499"/>
            </a:xfrm>
            <a:custGeom>
              <a:avLst/>
              <a:gdLst/>
              <a:ahLst/>
              <a:cxnLst/>
              <a:rect r="r" b="b" t="t" l="l"/>
              <a:pathLst>
                <a:path h="698499" w="818219">
                  <a:moveTo>
                    <a:pt x="0" y="0"/>
                  </a:moveTo>
                  <a:lnTo>
                    <a:pt x="818219" y="0"/>
                  </a:lnTo>
                  <a:lnTo>
                    <a:pt x="818219" y="698499"/>
                  </a:lnTo>
                  <a:lnTo>
                    <a:pt x="0" y="6984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530" t="0" r="-5953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818223" cy="727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23"/>
                </a:lnSpc>
              </a:pPr>
              <a:r>
                <a:rPr lang="en-US" sz="3020">
                  <a:solidFill>
                    <a:srgbClr val="9C7A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—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058248" y="3310833"/>
            <a:ext cx="8487385" cy="523875"/>
            <a:chOff x="0" y="0"/>
            <a:chExt cx="11316513" cy="698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316515" cy="698499"/>
            </a:xfrm>
            <a:custGeom>
              <a:avLst/>
              <a:gdLst/>
              <a:ahLst/>
              <a:cxnLst/>
              <a:rect r="r" b="b" t="t" l="l"/>
              <a:pathLst>
                <a:path h="698499" w="11316515">
                  <a:moveTo>
                    <a:pt x="0" y="0"/>
                  </a:moveTo>
                  <a:lnTo>
                    <a:pt x="11316515" y="0"/>
                  </a:lnTo>
                  <a:lnTo>
                    <a:pt x="11316515" y="698499"/>
                  </a:lnTo>
                  <a:lnTo>
                    <a:pt x="0" y="6984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680" r="0" b="-26568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1316513" cy="727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23"/>
                </a:lnSpc>
              </a:pPr>
              <a:r>
                <a:rPr lang="en-US" sz="3020">
                  <a:solidFill>
                    <a:srgbClr val="2A242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Sorting mail by postal and ZIP code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2983" y="4676032"/>
            <a:ext cx="613667" cy="523875"/>
            <a:chOff x="0" y="0"/>
            <a:chExt cx="818223" cy="698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8219" cy="698499"/>
            </a:xfrm>
            <a:custGeom>
              <a:avLst/>
              <a:gdLst/>
              <a:ahLst/>
              <a:cxnLst/>
              <a:rect r="r" b="b" t="t" l="l"/>
              <a:pathLst>
                <a:path h="698499" w="818219">
                  <a:moveTo>
                    <a:pt x="0" y="0"/>
                  </a:moveTo>
                  <a:lnTo>
                    <a:pt x="818219" y="0"/>
                  </a:lnTo>
                  <a:lnTo>
                    <a:pt x="818219" y="698499"/>
                  </a:lnTo>
                  <a:lnTo>
                    <a:pt x="0" y="6984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530" t="0" r="-5953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818223" cy="727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23"/>
                </a:lnSpc>
              </a:pPr>
              <a:r>
                <a:rPr lang="en-US" sz="3020">
                  <a:solidFill>
                    <a:srgbClr val="9C7A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—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103091" y="4656982"/>
            <a:ext cx="8101203" cy="1214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302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Digitizing handwritten forms and</a:t>
            </a:r>
          </a:p>
          <a:p>
            <a:pPr algn="l">
              <a:lnSpc>
                <a:spcPts val="4536"/>
              </a:lnSpc>
            </a:pPr>
            <a:r>
              <a:rPr lang="en-US" sz="302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 sheets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418139" y="4676032"/>
            <a:ext cx="613667" cy="523875"/>
            <a:chOff x="0" y="0"/>
            <a:chExt cx="818223" cy="698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8219" cy="698499"/>
            </a:xfrm>
            <a:custGeom>
              <a:avLst/>
              <a:gdLst/>
              <a:ahLst/>
              <a:cxnLst/>
              <a:rect r="r" b="b" t="t" l="l"/>
              <a:pathLst>
                <a:path h="698499" w="818219">
                  <a:moveTo>
                    <a:pt x="0" y="0"/>
                  </a:moveTo>
                  <a:lnTo>
                    <a:pt x="818219" y="0"/>
                  </a:lnTo>
                  <a:lnTo>
                    <a:pt x="818219" y="698499"/>
                  </a:lnTo>
                  <a:lnTo>
                    <a:pt x="0" y="6984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530" t="0" r="-5953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818223" cy="727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23"/>
                </a:lnSpc>
              </a:pPr>
              <a:r>
                <a:rPr lang="en-US" sz="3020">
                  <a:solidFill>
                    <a:srgbClr val="9C7A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—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058248" y="4656982"/>
            <a:ext cx="7747721" cy="1214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302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Teaching tool for demonstrating</a:t>
            </a:r>
          </a:p>
          <a:p>
            <a:pPr algn="l">
              <a:lnSpc>
                <a:spcPts val="4536"/>
              </a:lnSpc>
            </a:pPr>
            <a:r>
              <a:rPr lang="en-US" sz="3020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CNNs and deep learning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6497900" y="9249966"/>
            <a:ext cx="539563" cy="400050"/>
            <a:chOff x="0" y="0"/>
            <a:chExt cx="719417" cy="533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9416" cy="533400"/>
            </a:xfrm>
            <a:custGeom>
              <a:avLst/>
              <a:gdLst/>
              <a:ahLst/>
              <a:cxnLst/>
              <a:rect r="r" b="b" t="t" l="l"/>
              <a:pathLst>
                <a:path h="533400" w="719416">
                  <a:moveTo>
                    <a:pt x="0" y="0"/>
                  </a:moveTo>
                  <a:lnTo>
                    <a:pt x="719416" y="0"/>
                  </a:lnTo>
                  <a:lnTo>
                    <a:pt x="719416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128" t="0" r="-45128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719417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74695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9D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2983" y="1282008"/>
            <a:ext cx="12766310" cy="1047750"/>
            <a:chOff x="0" y="0"/>
            <a:chExt cx="17021746" cy="139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02175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7021750">
                  <a:moveTo>
                    <a:pt x="0" y="0"/>
                  </a:moveTo>
                  <a:lnTo>
                    <a:pt x="17021750" y="0"/>
                  </a:lnTo>
                  <a:lnTo>
                    <a:pt x="17021750" y="1397000"/>
                  </a:lnTo>
                  <a:lnTo>
                    <a:pt x="0" y="139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415" r="0" b="-18741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7021746" cy="1425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47"/>
                </a:lnSpc>
              </a:pPr>
              <a:r>
                <a:rPr lang="en-US" sz="6040" b="true">
                  <a:solidFill>
                    <a:srgbClr val="2A242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Challenges and Solutions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62983" y="3207991"/>
            <a:ext cx="2710758" cy="371475"/>
            <a:chOff x="0" y="0"/>
            <a:chExt cx="3614344" cy="4953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4341" cy="495301"/>
            </a:xfrm>
            <a:custGeom>
              <a:avLst/>
              <a:gdLst/>
              <a:ahLst/>
              <a:cxnLst/>
              <a:rect r="r" b="b" t="t" l="l"/>
              <a:pathLst>
                <a:path h="495301" w="3614341">
                  <a:moveTo>
                    <a:pt x="0" y="0"/>
                  </a:moveTo>
                  <a:lnTo>
                    <a:pt x="3614341" y="0"/>
                  </a:lnTo>
                  <a:lnTo>
                    <a:pt x="3614341" y="495301"/>
                  </a:lnTo>
                  <a:lnTo>
                    <a:pt x="0" y="4953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187" r="0" b="-9218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3614344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2160" spc="288">
                  <a:solidFill>
                    <a:srgbClr val="9C7A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CHALLENGE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326756" y="3207991"/>
            <a:ext cx="2317223" cy="371475"/>
            <a:chOff x="0" y="0"/>
            <a:chExt cx="3089631" cy="4953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89632" cy="495301"/>
            </a:xfrm>
            <a:custGeom>
              <a:avLst/>
              <a:gdLst/>
              <a:ahLst/>
              <a:cxnLst/>
              <a:rect r="r" b="b" t="t" l="l"/>
              <a:pathLst>
                <a:path h="495301" w="3089632">
                  <a:moveTo>
                    <a:pt x="0" y="0"/>
                  </a:moveTo>
                  <a:lnTo>
                    <a:pt x="3089632" y="0"/>
                  </a:lnTo>
                  <a:lnTo>
                    <a:pt x="3089632" y="495301"/>
                  </a:lnTo>
                  <a:lnTo>
                    <a:pt x="0" y="4953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545" r="0" b="-7154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3089631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2160" spc="288">
                  <a:solidFill>
                    <a:srgbClr val="9C7A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SOLUTION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462983" y="3770709"/>
            <a:ext cx="8415795" cy="1148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879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Overfitting risk with limited training</a:t>
            </a:r>
          </a:p>
          <a:p>
            <a:pPr algn="l">
              <a:lnSpc>
                <a:spcPts val="4320"/>
              </a:lnSpc>
            </a:pPr>
            <a:r>
              <a:rPr lang="en-US" sz="2879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epochs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26756" y="3770709"/>
            <a:ext cx="9287218" cy="1148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879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Dropout (0.5) plus validation monitoring</a:t>
            </a:r>
          </a:p>
          <a:p>
            <a:pPr algn="l">
              <a:lnSpc>
                <a:spcPts val="4320"/>
              </a:lnSpc>
            </a:pPr>
            <a:r>
              <a:rPr lang="en-US" sz="2879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epoch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62983" y="5032619"/>
            <a:ext cx="8698278" cy="1148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879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Hand-drawn strokes differ from clean</a:t>
            </a:r>
          </a:p>
          <a:p>
            <a:pPr algn="l">
              <a:lnSpc>
                <a:spcPts val="4320"/>
              </a:lnSpc>
            </a:pPr>
            <a:r>
              <a:rPr lang="en-US" sz="2879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MNIST digits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26756" y="5032619"/>
            <a:ext cx="9356093" cy="1148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879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Grayscale, resize, and normalize input to</a:t>
            </a:r>
          </a:p>
          <a:p>
            <a:pPr algn="l">
              <a:lnSpc>
                <a:spcPts val="4320"/>
              </a:lnSpc>
            </a:pPr>
            <a:r>
              <a:rPr lang="en-US" sz="2879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match training data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62983" y="6294539"/>
            <a:ext cx="7641507" cy="1148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879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prediction needs a fast,</a:t>
            </a:r>
          </a:p>
          <a:p>
            <a:pPr algn="l">
              <a:lnSpc>
                <a:spcPts val="4320"/>
              </a:lnSpc>
            </a:pPr>
            <a:r>
              <a:rPr lang="en-US" sz="2879">
                <a:solidFill>
                  <a:srgbClr val="2A24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lightweight model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326756" y="6399314"/>
            <a:ext cx="9453029" cy="495300"/>
            <a:chOff x="0" y="0"/>
            <a:chExt cx="12604039" cy="660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604035" cy="660400"/>
            </a:xfrm>
            <a:custGeom>
              <a:avLst/>
              <a:gdLst/>
              <a:ahLst/>
              <a:cxnLst/>
              <a:rect r="r" b="b" t="t" l="l"/>
              <a:pathLst>
                <a:path h="660400" w="12604035">
                  <a:moveTo>
                    <a:pt x="0" y="0"/>
                  </a:moveTo>
                  <a:lnTo>
                    <a:pt x="12604035" y="0"/>
                  </a:lnTo>
                  <a:lnTo>
                    <a:pt x="12604035" y="660400"/>
                  </a:lnTo>
                  <a:lnTo>
                    <a:pt x="0" y="660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880" r="0" b="-32188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2604039" cy="679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5"/>
                </a:lnSpc>
              </a:pPr>
              <a:r>
                <a:rPr lang="en-US" sz="2879">
                  <a:solidFill>
                    <a:srgbClr val="2A242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Compact CNN with cached model loading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497900" y="9249966"/>
            <a:ext cx="539563" cy="400050"/>
            <a:chOff x="0" y="0"/>
            <a:chExt cx="719417" cy="533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9416" cy="533400"/>
            </a:xfrm>
            <a:custGeom>
              <a:avLst/>
              <a:gdLst/>
              <a:ahLst/>
              <a:cxnLst/>
              <a:rect r="r" b="b" t="t" l="l"/>
              <a:pathLst>
                <a:path h="533400" w="719416">
                  <a:moveTo>
                    <a:pt x="0" y="0"/>
                  </a:moveTo>
                  <a:lnTo>
                    <a:pt x="719416" y="0"/>
                  </a:lnTo>
                  <a:lnTo>
                    <a:pt x="719416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128" t="0" r="-45128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719417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74695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14</a:t>
              </a:r>
            </a:p>
          </p:txBody>
        </p:sp>
      </p:grpSp>
      <p:sp>
        <p:nvSpPr>
          <p:cNvPr name="Freeform 24" id="24" descr="preencoded.png"/>
          <p:cNvSpPr/>
          <p:nvPr/>
        </p:nvSpPr>
        <p:spPr>
          <a:xfrm flipH="false" flipV="false" rot="0">
            <a:off x="1462011" y="3188046"/>
            <a:ext cx="15363825" cy="504825"/>
          </a:xfrm>
          <a:custGeom>
            <a:avLst/>
            <a:gdLst/>
            <a:ahLst/>
            <a:cxnLst/>
            <a:rect r="r" b="b" t="t" l="l"/>
            <a:pathLst>
              <a:path h="504825" w="15363825">
                <a:moveTo>
                  <a:pt x="0" y="0"/>
                </a:moveTo>
                <a:lnTo>
                  <a:pt x="15363825" y="0"/>
                </a:lnTo>
                <a:lnTo>
                  <a:pt x="15363825" y="504825"/>
                </a:lnTo>
                <a:lnTo>
                  <a:pt x="0" y="504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9D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2983" y="1282008"/>
            <a:ext cx="6759254" cy="1047750"/>
            <a:chOff x="0" y="0"/>
            <a:chExt cx="9012339" cy="139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012336" cy="1397000"/>
            </a:xfrm>
            <a:custGeom>
              <a:avLst/>
              <a:gdLst/>
              <a:ahLst/>
              <a:cxnLst/>
              <a:rect r="r" b="b" t="t" l="l"/>
              <a:pathLst>
                <a:path h="1397000" w="9012336">
                  <a:moveTo>
                    <a:pt x="0" y="0"/>
                  </a:moveTo>
                  <a:lnTo>
                    <a:pt x="9012336" y="0"/>
                  </a:lnTo>
                  <a:lnTo>
                    <a:pt x="9012336" y="1397000"/>
                  </a:lnTo>
                  <a:lnTo>
                    <a:pt x="0" y="139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702" r="0" b="-7570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9012339" cy="1425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47"/>
                </a:lnSpc>
              </a:pPr>
              <a:r>
                <a:rPr lang="en-US" sz="6040" b="true">
                  <a:solidFill>
                    <a:srgbClr val="2A242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Future Scope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62983" y="3215583"/>
            <a:ext cx="613667" cy="523875"/>
            <a:chOff x="0" y="0"/>
            <a:chExt cx="818223" cy="698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8219" cy="698499"/>
            </a:xfrm>
            <a:custGeom>
              <a:avLst/>
              <a:gdLst/>
              <a:ahLst/>
              <a:cxnLst/>
              <a:rect r="r" b="b" t="t" l="l"/>
              <a:pathLst>
                <a:path h="698499" w="818219">
                  <a:moveTo>
                    <a:pt x="0" y="0"/>
                  </a:moveTo>
                  <a:lnTo>
                    <a:pt x="818219" y="0"/>
                  </a:lnTo>
                  <a:lnTo>
                    <a:pt x="818219" y="698499"/>
                  </a:lnTo>
                  <a:lnTo>
                    <a:pt x="0" y="6984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530" t="0" r="-5953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818223" cy="727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23"/>
                </a:lnSpc>
              </a:pPr>
              <a:r>
                <a:rPr lang="en-US" sz="3020">
                  <a:solidFill>
                    <a:srgbClr val="9C7A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—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103091" y="3310833"/>
            <a:ext cx="17159583" cy="523875"/>
            <a:chOff x="0" y="0"/>
            <a:chExt cx="22879444" cy="698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879448" cy="698499"/>
            </a:xfrm>
            <a:custGeom>
              <a:avLst/>
              <a:gdLst/>
              <a:ahLst/>
              <a:cxnLst/>
              <a:rect r="r" b="b" t="t" l="l"/>
              <a:pathLst>
                <a:path h="698499" w="22879448">
                  <a:moveTo>
                    <a:pt x="0" y="0"/>
                  </a:moveTo>
                  <a:lnTo>
                    <a:pt x="22879448" y="0"/>
                  </a:lnTo>
                  <a:lnTo>
                    <a:pt x="22879448" y="698499"/>
                  </a:lnTo>
                  <a:lnTo>
                    <a:pt x="0" y="6984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235" r="0" b="-58823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22879444" cy="727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23"/>
                </a:lnSpc>
              </a:pPr>
              <a:r>
                <a:rPr lang="en-US" sz="3020">
                  <a:solidFill>
                    <a:srgbClr val="2A242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Extend the model to recognize full alphanumeric characters and words.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2983" y="4100065"/>
            <a:ext cx="613667" cy="523875"/>
            <a:chOff x="0" y="0"/>
            <a:chExt cx="818223" cy="698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8219" cy="698499"/>
            </a:xfrm>
            <a:custGeom>
              <a:avLst/>
              <a:gdLst/>
              <a:ahLst/>
              <a:cxnLst/>
              <a:rect r="r" b="b" t="t" l="l"/>
              <a:pathLst>
                <a:path h="698499" w="818219">
                  <a:moveTo>
                    <a:pt x="0" y="0"/>
                  </a:moveTo>
                  <a:lnTo>
                    <a:pt x="818219" y="0"/>
                  </a:lnTo>
                  <a:lnTo>
                    <a:pt x="818219" y="698499"/>
                  </a:lnTo>
                  <a:lnTo>
                    <a:pt x="0" y="6984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530" t="0" r="-5953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818223" cy="727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23"/>
                </a:lnSpc>
              </a:pPr>
              <a:r>
                <a:rPr lang="en-US" sz="3020">
                  <a:solidFill>
                    <a:srgbClr val="9C7A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—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103091" y="4195315"/>
            <a:ext cx="17670751" cy="523875"/>
            <a:chOff x="0" y="0"/>
            <a:chExt cx="23561002" cy="698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561001" cy="698499"/>
            </a:xfrm>
            <a:custGeom>
              <a:avLst/>
              <a:gdLst/>
              <a:ahLst/>
              <a:cxnLst/>
              <a:rect r="r" b="b" t="t" l="l"/>
              <a:pathLst>
                <a:path h="698499" w="23561001">
                  <a:moveTo>
                    <a:pt x="0" y="0"/>
                  </a:moveTo>
                  <a:lnTo>
                    <a:pt x="23561001" y="0"/>
                  </a:lnTo>
                  <a:lnTo>
                    <a:pt x="23561001" y="698499"/>
                  </a:lnTo>
                  <a:lnTo>
                    <a:pt x="0" y="6984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7248" r="0" b="-60724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23561002" cy="727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23"/>
                </a:lnSpc>
              </a:pPr>
              <a:r>
                <a:rPr lang="en-US" sz="3020">
                  <a:solidFill>
                    <a:srgbClr val="2A242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Improve robustness to varied handwriting styles with data augmentation.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62983" y="4984556"/>
            <a:ext cx="613667" cy="523875"/>
            <a:chOff x="0" y="0"/>
            <a:chExt cx="818223" cy="698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8219" cy="698499"/>
            </a:xfrm>
            <a:custGeom>
              <a:avLst/>
              <a:gdLst/>
              <a:ahLst/>
              <a:cxnLst/>
              <a:rect r="r" b="b" t="t" l="l"/>
              <a:pathLst>
                <a:path h="698499" w="818219">
                  <a:moveTo>
                    <a:pt x="0" y="0"/>
                  </a:moveTo>
                  <a:lnTo>
                    <a:pt x="818219" y="0"/>
                  </a:lnTo>
                  <a:lnTo>
                    <a:pt x="818219" y="698499"/>
                  </a:lnTo>
                  <a:lnTo>
                    <a:pt x="0" y="6984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530" t="0" r="-5953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818223" cy="727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23"/>
                </a:lnSpc>
              </a:pPr>
              <a:r>
                <a:rPr lang="en-US" sz="3020">
                  <a:solidFill>
                    <a:srgbClr val="9C7A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—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103091" y="5079806"/>
            <a:ext cx="13617026" cy="523875"/>
            <a:chOff x="0" y="0"/>
            <a:chExt cx="18156034" cy="698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156041" cy="698499"/>
            </a:xfrm>
            <a:custGeom>
              <a:avLst/>
              <a:gdLst/>
              <a:ahLst/>
              <a:cxnLst/>
              <a:rect r="r" b="b" t="t" l="l"/>
              <a:pathLst>
                <a:path h="698499" w="18156041">
                  <a:moveTo>
                    <a:pt x="0" y="0"/>
                  </a:moveTo>
                  <a:lnTo>
                    <a:pt x="18156041" y="0"/>
                  </a:lnTo>
                  <a:lnTo>
                    <a:pt x="18156041" y="698499"/>
                  </a:lnTo>
                  <a:lnTo>
                    <a:pt x="0" y="6984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473" r="0" b="-45647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18156034" cy="727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23"/>
                </a:lnSpc>
              </a:pPr>
              <a:r>
                <a:rPr lang="en-US" sz="3020">
                  <a:solidFill>
                    <a:srgbClr val="2A242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Deploy as a mobile app for on-device, offline predictions.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62983" y="5869038"/>
            <a:ext cx="613667" cy="523875"/>
            <a:chOff x="0" y="0"/>
            <a:chExt cx="818223" cy="698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8219" cy="698499"/>
            </a:xfrm>
            <a:custGeom>
              <a:avLst/>
              <a:gdLst/>
              <a:ahLst/>
              <a:cxnLst/>
              <a:rect r="r" b="b" t="t" l="l"/>
              <a:pathLst>
                <a:path h="698499" w="818219">
                  <a:moveTo>
                    <a:pt x="0" y="0"/>
                  </a:moveTo>
                  <a:lnTo>
                    <a:pt x="818219" y="0"/>
                  </a:lnTo>
                  <a:lnTo>
                    <a:pt x="818219" y="698499"/>
                  </a:lnTo>
                  <a:lnTo>
                    <a:pt x="0" y="6984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530" t="0" r="-5953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818223" cy="727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23"/>
                </a:lnSpc>
              </a:pPr>
              <a:r>
                <a:rPr lang="en-US" sz="3020">
                  <a:solidFill>
                    <a:srgbClr val="9C7A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—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103091" y="5964288"/>
            <a:ext cx="14346822" cy="523875"/>
            <a:chOff x="0" y="0"/>
            <a:chExt cx="19129096" cy="698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129096" cy="698499"/>
            </a:xfrm>
            <a:custGeom>
              <a:avLst/>
              <a:gdLst/>
              <a:ahLst/>
              <a:cxnLst/>
              <a:rect r="r" b="b" t="t" l="l"/>
              <a:pathLst>
                <a:path h="698499" w="19129096">
                  <a:moveTo>
                    <a:pt x="0" y="0"/>
                  </a:moveTo>
                  <a:lnTo>
                    <a:pt x="19129096" y="0"/>
                  </a:lnTo>
                  <a:lnTo>
                    <a:pt x="19129096" y="698499"/>
                  </a:lnTo>
                  <a:lnTo>
                    <a:pt x="0" y="6984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3617" r="0" b="-48361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19129096" cy="727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23"/>
                </a:lnSpc>
              </a:pPr>
              <a:r>
                <a:rPr lang="en-US" sz="3020">
                  <a:solidFill>
                    <a:srgbClr val="2A242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Integrate into larger document-scanning and OCR pipelines.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497900" y="9249966"/>
            <a:ext cx="539563" cy="400050"/>
            <a:chOff x="0" y="0"/>
            <a:chExt cx="719417" cy="533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19416" cy="533400"/>
            </a:xfrm>
            <a:custGeom>
              <a:avLst/>
              <a:gdLst/>
              <a:ahLst/>
              <a:cxnLst/>
              <a:rect r="r" b="b" t="t" l="l"/>
              <a:pathLst>
                <a:path h="533400" w="719416">
                  <a:moveTo>
                    <a:pt x="0" y="0"/>
                  </a:moveTo>
                  <a:lnTo>
                    <a:pt x="719416" y="0"/>
                  </a:lnTo>
                  <a:lnTo>
                    <a:pt x="719416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128" t="0" r="-45128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719417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74695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13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DAHO_wChKK0</dc:identifier>
  <dcterms:modified xsi:type="dcterms:W3CDTF">2011-08-01T06:04:30Z</dcterms:modified>
  <cp:revision>1</cp:revision>
  <dc:title>Digit-Recognizer (1).pptx</dc:title>
</cp:coreProperties>
</file>